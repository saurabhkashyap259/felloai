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raming" id="{e8d54776-cadd-43aa-bfea-3565ce6f8d52}">
          <p14:sldIdLst>
            <p14:sldId id="256"/>
            <p14:sldId id="257"/>
            <p14:sldId id="258"/>
          </p14:sldIdLst>
        </p14:section>
        <p14:section name="What I built" id="{4e030060-782c-09c1-9c4d-02c475fbe66f}">
          <p14:sldIdLst>
            <p14:sldId id="259"/>
            <p14:sldId id="260"/>
          </p14:sldIdLst>
        </p14:section>
        <p14:section name="Evidence" id="{101f649c-cd64-0d52-2226-eba9906043e9}">
          <p14:sldIdLst>
            <p14:sldId id="261"/>
            <p14:sldId id="262"/>
            <p14:sldId id="263"/>
            <p14:sldId id="264"/>
          </p14:sldIdLst>
        </p14:section>
        <p14:section name="Limits" id="{b577a7ea-6a82-5f9f-f12f-4466bad58c87}">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8212B"/>
                </a:solidFill>
                <a:latin typeface="+mn-lt"/>
              </a:defRPr>
            </a:pPr>
            <a:r>
              <a:rPr sz="1400" b="0" i="0" u="none" strike="noStrike">
                <a:solidFill>
                  <a:srgbClr val="18212B"/>
                </a:solidFill>
                <a:latin typeface="+mn-lt"/>
              </a:rPr>
              <a:t>Six planted churn drivers: churn rate with vs. without (%)</a:t>
            </a:r>
          </a:p>
        </c:rich>
      </c:tx>
      <c:layout/>
      <c:overlay val="0"/>
    </c:title>
    <c:autoTitleDeleted val="0"/>
    <c:plotArea>
      <c:layout/>
      <c:barChart>
        <c:barDir val="col"/>
        <c:grouping val="clustered"/>
        <c:varyColors val="0"/>
        <c:ser>
          <c:idx val="0"/>
          <c:order val="0"/>
          <c:tx>
            <c:strRef>
              <c:f>Sheet1!$B$1</c:f>
              <c:strCache>
                <c:ptCount val="1"/>
                <c:pt idx="0">
                  <c:v>Churn with driver</c:v>
                </c:pt>
              </c:strCache>
            </c:strRef>
          </c:tx>
          <c:spPr>
            <a:solidFill>
              <a:srgbClr val="C2410C"/>
            </a:solidFill>
            <a:effectLst/>
          </c:spPr>
          <c:invertIfNegative val="0"/>
          <c:dLbls>
            <c:numFmt formatCode="#,##0" sourceLinked="0"/>
            <c:txPr>
              <a:bodyPr/>
              <a:lstStyle/>
              <a:p>
                <a:pPr>
                  <a:defRPr b="0" i="0" strike="noStrike" sz="1100" u="none">
                    <a:solidFill>
                      <a:srgbClr val="4A5562"/>
                    </a:solidFill>
                    <a:latin typeface="+mn-lt"/>
                  </a:defRPr>
                </a:pPr>
              </a:p>
            </c:txPr>
            <c:showLegendKey val="0"/>
            <c:showVal val="1"/>
            <c:showCatName val="0"/>
            <c:showSerName val="0"/>
            <c:showPercent val="0"/>
            <c:showBubbleSize val="0"/>
            <c:showLeaderLines val="0"/>
          </c:dLbls>
          <c:cat>
            <c:multiLvlStrRef>
              <c:f>Sheet1!$A$2:$A$7</c:f>
              <c:multiLvlStrCache>
                <c:ptCount val="6"/>
                <c:lvl>
                  <c:pt idx="0">
                    <c:v>Usage decline</c:v>
                  </c:pt>
                  <c:pt idx="1">
                    <c:v>Ticket spike</c:v>
                  </c:pt>
                  <c:pt idx="2">
                    <c:v>Champion left</c:v>
                  </c:pt>
                  <c:pt idx="3">
                    <c:v>Payment failures</c:v>
                  </c:pt>
                  <c:pt idx="4">
                    <c:v>Seat under-use</c:v>
                  </c:pt>
                  <c:pt idx="5">
                    <c:v>No CSM contact</c:v>
                  </c:pt>
                </c:lvl>
              </c:multiLvlStrCache>
            </c:multiLvlStrRef>
          </c:cat>
          <c:val>
            <c:numRef>
              <c:f>Sheet1!$B$2:$B$7</c:f>
              <c:numCache>
                <c:formatCode>General</c:formatCode>
                <c:ptCount val="6"/>
                <c:pt idx="0">
                  <c:v>33</c:v>
                </c:pt>
                <c:pt idx="1">
                  <c:v>28</c:v>
                </c:pt>
                <c:pt idx="2">
                  <c:v>27</c:v>
                </c:pt>
                <c:pt idx="3">
                  <c:v>26</c:v>
                </c:pt>
                <c:pt idx="4">
                  <c:v>18</c:v>
                </c:pt>
                <c:pt idx="5">
                  <c:v>17</c:v>
                </c:pt>
              </c:numCache>
            </c:numRef>
          </c:val>
        </c:ser>
        <c:ser>
          <c:idx val="1"/>
          <c:order val="1"/>
          <c:tx>
            <c:strRef>
              <c:f>Sheet1!$C$1</c:f>
              <c:strCache>
                <c:ptCount val="1"/>
                <c:pt idx="0">
                  <c:v>Churn without</c:v>
                </c:pt>
              </c:strCache>
            </c:strRef>
          </c:tx>
          <c:spPr>
            <a:solidFill>
              <a:srgbClr val="8A94A0"/>
            </a:solidFill>
            <a:effectLst/>
          </c:spPr>
          <c:invertIfNegative val="0"/>
          <c:dLbls>
            <c:numFmt formatCode="#,##0" sourceLinked="0"/>
            <c:txPr>
              <a:bodyPr/>
              <a:lstStyle/>
              <a:p>
                <a:pPr>
                  <a:defRPr b="0" i="0" strike="noStrike" sz="1100" u="none">
                    <a:solidFill>
                      <a:srgbClr val="4A5562"/>
                    </a:solidFill>
                    <a:latin typeface="+mn-lt"/>
                  </a:defRPr>
                </a:pPr>
              </a:p>
            </c:txPr>
            <c:showLegendKey val="0"/>
            <c:showVal val="1"/>
            <c:showCatName val="0"/>
            <c:showSerName val="0"/>
            <c:showPercent val="0"/>
            <c:showBubbleSize val="0"/>
            <c:showLeaderLines val="0"/>
          </c:dLbls>
          <c:cat>
            <c:multiLvlStrRef>
              <c:f>Sheet1!$A$2:$A$7</c:f>
              <c:multiLvlStrCache>
                <c:ptCount val="6"/>
                <c:lvl>
                  <c:pt idx="0">
                    <c:v>Usage decline</c:v>
                  </c:pt>
                  <c:pt idx="1">
                    <c:v>Ticket spike</c:v>
                  </c:pt>
                  <c:pt idx="2">
                    <c:v>Champion left</c:v>
                  </c:pt>
                  <c:pt idx="3">
                    <c:v>Payment failures</c:v>
                  </c:pt>
                  <c:pt idx="4">
                    <c:v>Seat under-use</c:v>
                  </c:pt>
                  <c:pt idx="5">
                    <c:v>No CSM contact</c:v>
                  </c:pt>
                </c:lvl>
              </c:multiLvlStrCache>
            </c:multiLvlStrRef>
          </c:cat>
          <c:val>
            <c:numRef>
              <c:f>Sheet1!$C$2:$C$7</c:f>
              <c:numCache>
                <c:formatCode>General</c:formatCode>
                <c:ptCount val="6"/>
                <c:pt idx="0">
                  <c:v>5</c:v>
                </c:pt>
                <c:pt idx="1">
                  <c:v>6</c:v>
                </c:pt>
                <c:pt idx="2">
                  <c:v>7</c:v>
                </c:pt>
                <c:pt idx="3">
                  <c:v>7</c:v>
                </c:pt>
                <c:pt idx="4">
                  <c:v>7</c:v>
                </c:pt>
                <c:pt idx="5">
                  <c:v>7</c:v>
                </c:pt>
              </c:numCache>
            </c:numRef>
          </c:val>
        </c:ser>
        <c:dLbls>
          <c:numFmt formatCode="#,##0" sourceLinked="0"/>
          <c:txPr>
            <a:bodyPr/>
            <a:lstStyle/>
            <a:p>
              <a:pPr>
                <a:defRPr b="0" i="0" strike="noStrike" sz="1100" u="none">
                  <a:solidFill>
                    <a:srgbClr val="4A5562"/>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5562"/>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4A5562"/>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was asked for a red/yellow/green health dashboard plus automatic emails to red accounts. I built something different: a ranked worklist per CSM, a nightly agent that runs on its own, and outreach drafts a person approves. Everything is on GitHub and the data is synthetic.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lost renewals weren't a visibility problem. The signals existed. Nothing put those accounts at the top of someone's list early enough. A CSM has about 120 accounts and can act on about 10 a week, so the product is a prioritised list, not another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disagreements. A colour doesn't tell a CSM where to start, so I rank. An automatic email to a customer who is wrongly flagged is worse than no email, so a human approves every send. And instead of promising nothing slips, I measure hit rate and lead time and report the misses.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stages. Ingest cleans and matches records from five sources. Signals are computed as of a cutoff using only data received before it. One pooled model, calibrated per tenant. The nightly agent runs with no human trigger. The worklist only reads stored scores. The LLM writes drafts and never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is generated, so I know the true churn drivers and can check whether the model finds them. It's also deliberately messy: duplicates, late and out-of-order events, timezone problems, unmatched records, and CRM and billing disagreeing on renewal dates. I froze the generator before evaluating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Evaluated by replaying weekly worklists over a later period than the model was trained on. Five criteria pass: risk is concentrated where CSMs look, percentages are calibrated, silent churners are caught, and the agent is fast and quiet. Two miss and one partly passes. Next slide is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60-day miss mostly comes from how the data was generated: many drivers haven't started 60 days before renewal. I could have retuned the generator until the number passed, but then I'd be measuring the generator, not the model. The next step would be a longer horizon.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night the agent advances the clock, takes in newly arrived data, rescores, compares with the previous run, and alerts only on material change, with caps so CSMs don't learn to ignore it. For each alert it gathers evidence and drafts an email. The LLM can only use facts from the pack, and a validator checks that before anything reaches a CSM.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Isolation is enforced in the database, not just the app, so an application bug can't leak another tenant's data. Probing another tenant's URL looks exactly like a missing record. And every number on screen comes from a stored score row that can be recomputed and traced to source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skipped real connectors and any automatic sending on purpose. At ten times the size, the first thing to break is feature computation in a single pandas process, then training time, then running LLM calls inside the nightly job. The README has the full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035040" cy="146304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r>
              <a:rPr lang="en-US" sz="4400" b="1" dirty="0">
                <a:solidFill>
                  <a:schemeClr val="bg1"/>
                </a:solidFill>
                <a:latin typeface="Cambria" pitchFamily="34" charset="0"/>
                <a:ea typeface="Cambria" pitchFamily="34" charset="-122"/>
                <a:cs typeface="Cambria" pitchFamily="34" charset="-120"/>
              </a:rPr>
              <a:t>Title</a:t>
            </a:r>
            <a:endParaRPr lang="en-US" sz="4400" dirty="0"/>
          </a:p>
        </p:txBody>
      </p:sp>
      <p:sp>
        <p:nvSpPr>
          <p:cNvPr id="3" name="Text 0"/>
          <p:cNvSpPr/>
          <p:nvPr>
            <p:ph idx="101" type="body" hasCustomPrompt="1"/>
          </p:nvPr>
        </p:nvSpPr>
        <p:spPr>
          <a:xfrm>
            <a:off x="548640" y="3429000"/>
            <a:ext cx="5852160" cy="1280160"/>
          </a:xfrm>
          <a:prstGeom prst="rect">
            <a:avLst/>
          </a:prstGeom>
          <a:noFill/>
          <a:ln/>
        </p:spPr>
        <p:txBody>
          <a:bodyPr wrap="square" rtlCol="0"/>
          <a:lstStyle>
            <a:lvl1pPr indent="0" marL="0">
              <a:buNone/>
              <a:defRPr lang="en-US" sz="2000" dirty="0">
                <a:solidFill>
                  <a:schemeClr val="bg2"/>
                </a:solidFill>
              </a:defRPr>
            </a:lvl1pPr>
          </a:lstStyle>
          <a:p>
            <a:pPr indent="0" marL="0">
              <a:buNone/>
            </a:pPr>
            <a:r>
              <a:rPr lang="en-US" sz="2000" dirty="0">
                <a:solidFill>
                  <a:schemeClr val="bg2"/>
                </a:solidFill>
              </a:rPr>
              <a:t>Subtitle</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rtlCol="0"/>
          <a:lstStyle>
            <a:lvl1pPr algn="l" indent="0" marL="0">
              <a:buNone/>
              <a:defRPr lang="en-US" sz="3400" b="1" dirty="0">
                <a:solidFill>
                  <a:schemeClr val="tx1"/>
                </a:solidFill>
                <a:latin typeface="Cambria" pitchFamily="34" charset="0"/>
                <a:ea typeface="Cambria" pitchFamily="34" charset="-122"/>
                <a:cs typeface="Cambria" pitchFamily="34" charset="-120"/>
              </a:defRPr>
            </a:lvl1pPr>
          </a:lstStyle>
          <a:p>
            <a:pPr algn="l" indent="0" marL="0">
              <a:buNone/>
            </a:pPr>
            <a:r>
              <a:rPr lang="en-US" sz="3400" b="1" dirty="0">
                <a:solidFill>
                  <a:schemeClr val="tx1"/>
                </a:solidFill>
                <a:latin typeface="Cambria" pitchFamily="34" charset="0"/>
                <a:ea typeface="Cambria" pitchFamily="34" charset="-122"/>
                <a:cs typeface="Cambria" pitchFamily="34" charset="-120"/>
              </a:rPr>
              <a:t>Title</a:t>
            </a:r>
            <a:endParaRPr lang="en-US" sz="3400" dirty="0"/>
          </a:p>
        </p:txBody>
      </p:sp>
      <p:sp>
        <p:nvSpPr>
          <p:cNvPr id="3" name="Text 0"/>
          <p:cNvSpPr/>
          <p:nvPr/>
        </p:nvSpPr>
        <p:spPr>
          <a:xfrm>
            <a:off x="548640" y="6400800"/>
            <a:ext cx="4572000" cy="274320"/>
          </a:xfrm>
          <a:prstGeom prst="rect">
            <a:avLst/>
          </a:prstGeom>
          <a:noFill/>
          <a:ln/>
        </p:spPr>
        <p:txBody>
          <a:bodyPr wrap="square" lIns="0" tIns="0" rIns="0" bIns="0" rtlCol="0" anchor="ctr"/>
          <a:lstStyle/>
          <a:p>
            <a:pPr indent="0" marL="0">
              <a:buNone/>
            </a:pPr>
            <a:r>
              <a:rPr lang="en-US" sz="1000" dirty="0">
                <a:solidFill>
                  <a:schemeClr val="tx2"/>
                </a:solidFill>
              </a:rPr>
              <a:t>Renewal Risk Worklist</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035040" cy="146304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Renewal Risk Worklist</a:t>
            </a:r>
            <a:endParaRPr lang="en-US" sz="4400" dirty="0"/>
          </a:p>
        </p:txBody>
      </p:sp>
      <p:sp>
        <p:nvSpPr>
          <p:cNvPr id="3" name="Text 0"/>
          <p:cNvSpPr/>
          <p:nvPr>
            <p:ph idx="101" type="body" hasCustomPrompt="1"/>
          </p:nvPr>
        </p:nvSpPr>
        <p:spPr>
          <a:xfrm>
            <a:off x="548640" y="3429000"/>
            <a:ext cx="5852160" cy="1280160"/>
          </a:xfrm>
          <a:prstGeom prst="rect">
            <a:avLst/>
          </a:prstGeom>
          <a:noFill/>
          <a:ln/>
        </p:spPr>
        <p:txBody>
          <a:bodyPr wrap="square" lIns="0" tIns="0" rIns="0" bIns="0" rtlCol="0" anchor="t"/>
          <a:lstStyle/>
          <a:p>
            <a:pPr indent="0" marL="0">
              <a:buNone/>
            </a:pPr>
            <a:r>
              <a:rPr lang="en-US" sz="2000" dirty="0">
                <a:solidFill>
                  <a:schemeClr val="bg2"/>
                </a:solidFill>
              </a:rPr>
              <a:t>A ranked Monday list for every CSM, an unattended nightly agent, and outreach a human approves</a:t>
            </a:r>
            <a:endParaRPr lang="en-US" sz="2000" dirty="0"/>
          </a:p>
        </p:txBody>
      </p:sp>
      <p:sp>
        <p:nvSpPr>
          <p:cNvPr id="4" name="text-1"/>
          <p:cNvSpPr txBox="1"/>
          <p:nvPr/>
        </p:nvSpPr>
        <p:spPr>
          <a:xfrm>
            <a:off x="548640" y="5669280"/>
            <a:ext cx="6400800" cy="640080"/>
          </a:xfrm>
          <a:prstGeom prst="rect">
            <a:avLst/>
          </a:prstGeom>
          <a:noFill/>
          <a:ln/>
        </p:spPr>
        <p:txBody>
          <a:bodyPr wrap="square" lIns="0" tIns="0" rIns="0" bIns="0" rtlCol="0" anchor="ctr"/>
          <a:lstStyle/>
          <a:p>
            <a:pPr indent="0" marL="0">
              <a:buNone/>
            </a:pPr>
            <a:r>
              <a:rPr lang="en-US" sz="1200" dirty="0">
                <a:solidFill>
                  <a:schemeClr val="accent6"/>
                </a:solidFill>
              </a:rPr>
              <a:t>Fello take-home · Staff Engineer, Data Architecture &amp; GTM AI Platform</a:t>
            </a:r>
            <a:endParaRPr lang="en-US" sz="1200" dirty="0"/>
          </a:p>
          <a:p>
            <a:pPr indent="0" marL="0">
              <a:buNone/>
            </a:pPr>
            <a:r>
              <a:rPr lang="en-US" sz="1200" dirty="0">
                <a:solidFill>
                  <a:schemeClr val="accent6"/>
                </a:solidFill>
              </a:rPr>
              <a:t>github.com/saurabhkashyap259/FelloAI</a:t>
            </a:r>
            <a:endParaRPr lang="en-US" sz="1200" dirty="0"/>
          </a:p>
        </p:txBody>
      </p:sp>
      <p:sp>
        <p:nvSpPr>
          <p:cNvPr id="5" name="card-2"/>
          <p:cNvSpPr/>
          <p:nvPr/>
        </p:nvSpPr>
        <p:spPr>
          <a:xfrm>
            <a:off x="7086600" y="1143000"/>
            <a:ext cx="4553712" cy="4572000"/>
          </a:xfrm>
          <a:prstGeom prst="roundRect">
            <a:avLst>
              <a:gd name="adj" fmla="val 1606"/>
            </a:avLst>
          </a:prstGeom>
          <a:solidFill>
            <a:schemeClr val="bg1"/>
          </a:solidFill>
          <a:ln w="12700">
            <a:solidFill>
              <a:schemeClr val="bg1"/>
            </a:solidFill>
            <a:prstDash val="solid"/>
          </a:ln>
        </p:spPr>
      </p:sp>
      <p:sp>
        <p:nvSpPr>
          <p:cNvPr id="6" name="text-3"/>
          <p:cNvSpPr txBox="1"/>
          <p:nvPr/>
        </p:nvSpPr>
        <p:spPr>
          <a:xfrm>
            <a:off x="7406640" y="1417320"/>
            <a:ext cx="3840480" cy="365760"/>
          </a:xfrm>
          <a:prstGeom prst="rect">
            <a:avLst/>
          </a:prstGeom>
          <a:noFill/>
          <a:ln/>
        </p:spPr>
        <p:txBody>
          <a:bodyPr wrap="square" lIns="0" tIns="0" rIns="0" bIns="0" rtlCol="0" anchor="ctr"/>
          <a:lstStyle/>
          <a:p>
            <a:pPr indent="0" marL="0">
              <a:buNone/>
            </a:pPr>
            <a:r>
              <a:rPr lang="en-US" sz="1400" b="1" dirty="0">
                <a:solidFill>
                  <a:schemeClr val="tx1"/>
                </a:solidFill>
              </a:rPr>
              <a:t>csm01 · Act this week</a:t>
            </a:r>
            <a:endParaRPr lang="en-US" sz="1400" dirty="0"/>
          </a:p>
        </p:txBody>
      </p:sp>
      <p:sp>
        <p:nvSpPr>
          <p:cNvPr id="7" name="dot-4"/>
          <p:cNvSpPr/>
          <p:nvPr/>
        </p:nvSpPr>
        <p:spPr>
          <a:xfrm>
            <a:off x="7406640" y="2084832"/>
            <a:ext cx="457200" cy="457200"/>
          </a:xfrm>
          <a:prstGeom prst="ellipse">
            <a:avLst/>
          </a:prstGeom>
          <a:solidFill>
            <a:schemeClr val="accent1"/>
          </a:solidFill>
          <a:ln w="12700">
            <a:solidFill>
              <a:schemeClr val="accent1"/>
            </a:solidFill>
            <a:prstDash val="solid"/>
          </a:ln>
        </p:spPr>
      </p:sp>
      <p:sp>
        <p:nvSpPr>
          <p:cNvPr id="8" name="text-5"/>
          <p:cNvSpPr txBox="1"/>
          <p:nvPr/>
        </p:nvSpPr>
        <p:spPr>
          <a:xfrm>
            <a:off x="7406640" y="208483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text-6"/>
          <p:cNvSpPr txBox="1"/>
          <p:nvPr/>
        </p:nvSpPr>
        <p:spPr>
          <a:xfrm>
            <a:off x="8046720" y="2011680"/>
            <a:ext cx="2377440" cy="320040"/>
          </a:xfrm>
          <a:prstGeom prst="rect">
            <a:avLst/>
          </a:prstGeom>
          <a:noFill/>
          <a:ln/>
        </p:spPr>
        <p:txBody>
          <a:bodyPr wrap="square" lIns="0" tIns="0" rIns="0" bIns="0" rtlCol="0" anchor="ctr"/>
          <a:lstStyle/>
          <a:p>
            <a:pPr indent="0" marL="0">
              <a:buNone/>
            </a:pPr>
            <a:r>
              <a:rPr lang="en-US" sz="1500" b="1" dirty="0">
                <a:solidFill>
                  <a:schemeClr val="tx1"/>
                </a:solidFill>
              </a:rPr>
              <a:t>Harbor Analytics</a:t>
            </a:r>
            <a:endParaRPr lang="en-US" sz="1500" dirty="0"/>
          </a:p>
        </p:txBody>
      </p:sp>
      <p:sp>
        <p:nvSpPr>
          <p:cNvPr id="10" name="text-7"/>
          <p:cNvSpPr txBox="1"/>
          <p:nvPr/>
        </p:nvSpPr>
        <p:spPr>
          <a:xfrm>
            <a:off x="8046720" y="2331720"/>
            <a:ext cx="2468880" cy="274320"/>
          </a:xfrm>
          <a:prstGeom prst="rect">
            <a:avLst/>
          </a:prstGeom>
          <a:noFill/>
          <a:ln/>
        </p:spPr>
        <p:txBody>
          <a:bodyPr wrap="square" lIns="0" tIns="0" rIns="0" bIns="0" rtlCol="0" anchor="ctr"/>
          <a:lstStyle/>
          <a:p>
            <a:pPr indent="0" marL="0">
              <a:buNone/>
            </a:pPr>
            <a:r>
              <a:rPr lang="en-US" sz="1100" dirty="0">
                <a:solidFill>
                  <a:schemeClr val="tx2"/>
                </a:solidFill>
              </a:rPr>
              <a:t>Usage down 48% in 30 days</a:t>
            </a:r>
            <a:endParaRPr lang="en-US" sz="1100" dirty="0"/>
          </a:p>
        </p:txBody>
      </p:sp>
      <p:sp>
        <p:nvSpPr>
          <p:cNvPr id="11" name="text-8"/>
          <p:cNvSpPr txBox="1"/>
          <p:nvPr/>
        </p:nvSpPr>
        <p:spPr>
          <a:xfrm>
            <a:off x="10607040" y="2011680"/>
            <a:ext cx="731520" cy="320040"/>
          </a:xfrm>
          <a:prstGeom prst="rect">
            <a:avLst/>
          </a:prstGeom>
          <a:noFill/>
          <a:ln/>
        </p:spPr>
        <p:txBody>
          <a:bodyPr wrap="square" lIns="0" tIns="0" rIns="0" bIns="0" rtlCol="0" anchor="ctr"/>
          <a:lstStyle/>
          <a:p>
            <a:pPr algn="r" indent="0" marL="0">
              <a:buNone/>
            </a:pPr>
            <a:r>
              <a:rPr lang="en-US" sz="1500" b="1" dirty="0">
                <a:solidFill>
                  <a:schemeClr val="accent1"/>
                </a:solidFill>
              </a:rPr>
              <a:t>41%</a:t>
            </a:r>
            <a:endParaRPr lang="en-US" sz="1500" dirty="0"/>
          </a:p>
        </p:txBody>
      </p:sp>
      <p:sp>
        <p:nvSpPr>
          <p:cNvPr id="12" name="track-9"/>
          <p:cNvSpPr/>
          <p:nvPr/>
        </p:nvSpPr>
        <p:spPr>
          <a:xfrm>
            <a:off x="10607040" y="2423160"/>
            <a:ext cx="731520" cy="91440"/>
          </a:xfrm>
          <a:prstGeom prst="rect">
            <a:avLst/>
          </a:prstGeom>
          <a:solidFill>
            <a:schemeClr val="bg2"/>
          </a:solidFill>
          <a:ln w="12700">
            <a:solidFill>
              <a:schemeClr val="bg2"/>
            </a:solidFill>
            <a:prstDash val="solid"/>
          </a:ln>
        </p:spPr>
      </p:sp>
      <p:sp>
        <p:nvSpPr>
          <p:cNvPr id="13" name="bar-10"/>
          <p:cNvSpPr/>
          <p:nvPr/>
        </p:nvSpPr>
        <p:spPr>
          <a:xfrm>
            <a:off x="10607040" y="2423160"/>
            <a:ext cx="666496" cy="91440"/>
          </a:xfrm>
          <a:prstGeom prst="rect">
            <a:avLst/>
          </a:prstGeom>
          <a:solidFill>
            <a:schemeClr val="accent1"/>
          </a:solidFill>
          <a:ln w="12700">
            <a:solidFill>
              <a:schemeClr val="accent1"/>
            </a:solidFill>
            <a:prstDash val="solid"/>
          </a:ln>
        </p:spPr>
      </p:sp>
      <p:sp>
        <p:nvSpPr>
          <p:cNvPr id="14" name="dot-11"/>
          <p:cNvSpPr/>
          <p:nvPr/>
        </p:nvSpPr>
        <p:spPr>
          <a:xfrm>
            <a:off x="7406640" y="2999232"/>
            <a:ext cx="457200" cy="457200"/>
          </a:xfrm>
          <a:prstGeom prst="ellipse">
            <a:avLst/>
          </a:prstGeom>
          <a:solidFill>
            <a:schemeClr val="accent1"/>
          </a:solidFill>
          <a:ln w="12700">
            <a:solidFill>
              <a:schemeClr val="accent1"/>
            </a:solidFill>
            <a:prstDash val="solid"/>
          </a:ln>
        </p:spPr>
      </p:sp>
      <p:sp>
        <p:nvSpPr>
          <p:cNvPr id="15" name="text-12"/>
          <p:cNvSpPr txBox="1"/>
          <p:nvPr/>
        </p:nvSpPr>
        <p:spPr>
          <a:xfrm>
            <a:off x="7406640" y="299923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6" name="text-13"/>
          <p:cNvSpPr txBox="1"/>
          <p:nvPr/>
        </p:nvSpPr>
        <p:spPr>
          <a:xfrm>
            <a:off x="8046720" y="2926080"/>
            <a:ext cx="2377440" cy="320040"/>
          </a:xfrm>
          <a:prstGeom prst="rect">
            <a:avLst/>
          </a:prstGeom>
          <a:noFill/>
          <a:ln/>
        </p:spPr>
        <p:txBody>
          <a:bodyPr wrap="square" lIns="0" tIns="0" rIns="0" bIns="0" rtlCol="0" anchor="ctr"/>
          <a:lstStyle/>
          <a:p>
            <a:pPr indent="0" marL="0">
              <a:buNone/>
            </a:pPr>
            <a:r>
              <a:rPr lang="en-US" sz="1500" b="1" dirty="0">
                <a:solidFill>
                  <a:schemeClr val="tx1"/>
                </a:solidFill>
              </a:rPr>
              <a:t>Pinecrest Labs</a:t>
            </a:r>
            <a:endParaRPr lang="en-US" sz="1500" dirty="0"/>
          </a:p>
        </p:txBody>
      </p:sp>
      <p:sp>
        <p:nvSpPr>
          <p:cNvPr id="17" name="text-14"/>
          <p:cNvSpPr txBox="1"/>
          <p:nvPr/>
        </p:nvSpPr>
        <p:spPr>
          <a:xfrm>
            <a:off x="8046720" y="3246120"/>
            <a:ext cx="2468880" cy="274320"/>
          </a:xfrm>
          <a:prstGeom prst="rect">
            <a:avLst/>
          </a:prstGeom>
          <a:noFill/>
          <a:ln/>
        </p:spPr>
        <p:txBody>
          <a:bodyPr wrap="square" lIns="0" tIns="0" rIns="0" bIns="0" rtlCol="0" anchor="ctr"/>
          <a:lstStyle/>
          <a:p>
            <a:pPr indent="0" marL="0">
              <a:buNone/>
            </a:pPr>
            <a:r>
              <a:rPr lang="en-US" sz="1100" dirty="0">
                <a:solidFill>
                  <a:schemeClr val="tx2"/>
                </a:solidFill>
              </a:rPr>
              <a:t>3 urgent tickets, slow resolution</a:t>
            </a:r>
            <a:endParaRPr lang="en-US" sz="1100" dirty="0"/>
          </a:p>
        </p:txBody>
      </p:sp>
      <p:sp>
        <p:nvSpPr>
          <p:cNvPr id="18" name="text-15"/>
          <p:cNvSpPr txBox="1"/>
          <p:nvPr/>
        </p:nvSpPr>
        <p:spPr>
          <a:xfrm>
            <a:off x="10607040" y="2926080"/>
            <a:ext cx="731520" cy="320040"/>
          </a:xfrm>
          <a:prstGeom prst="rect">
            <a:avLst/>
          </a:prstGeom>
          <a:noFill/>
          <a:ln/>
        </p:spPr>
        <p:txBody>
          <a:bodyPr wrap="square" lIns="0" tIns="0" rIns="0" bIns="0" rtlCol="0" anchor="ctr"/>
          <a:lstStyle/>
          <a:p>
            <a:pPr algn="r" indent="0" marL="0">
              <a:buNone/>
            </a:pPr>
            <a:r>
              <a:rPr lang="en-US" sz="1500" b="1" dirty="0">
                <a:solidFill>
                  <a:schemeClr val="accent1"/>
                </a:solidFill>
              </a:rPr>
              <a:t>34%</a:t>
            </a:r>
            <a:endParaRPr lang="en-US" sz="1500" dirty="0"/>
          </a:p>
        </p:txBody>
      </p:sp>
      <p:sp>
        <p:nvSpPr>
          <p:cNvPr id="19" name="track-16"/>
          <p:cNvSpPr/>
          <p:nvPr/>
        </p:nvSpPr>
        <p:spPr>
          <a:xfrm>
            <a:off x="10607040" y="3337560"/>
            <a:ext cx="731520" cy="91440"/>
          </a:xfrm>
          <a:prstGeom prst="rect">
            <a:avLst/>
          </a:prstGeom>
          <a:solidFill>
            <a:schemeClr val="bg2"/>
          </a:solidFill>
          <a:ln w="12700">
            <a:solidFill>
              <a:schemeClr val="bg2"/>
            </a:solidFill>
            <a:prstDash val="solid"/>
          </a:ln>
        </p:spPr>
      </p:sp>
      <p:sp>
        <p:nvSpPr>
          <p:cNvPr id="20" name="bar-17"/>
          <p:cNvSpPr/>
          <p:nvPr/>
        </p:nvSpPr>
        <p:spPr>
          <a:xfrm>
            <a:off x="10607040" y="3337560"/>
            <a:ext cx="552704" cy="91440"/>
          </a:xfrm>
          <a:prstGeom prst="rect">
            <a:avLst/>
          </a:prstGeom>
          <a:solidFill>
            <a:schemeClr val="accent1"/>
          </a:solidFill>
          <a:ln w="12700">
            <a:solidFill>
              <a:schemeClr val="accent1"/>
            </a:solidFill>
            <a:prstDash val="solid"/>
          </a:ln>
        </p:spPr>
      </p:sp>
      <p:sp>
        <p:nvSpPr>
          <p:cNvPr id="21" name="dot-18"/>
          <p:cNvSpPr/>
          <p:nvPr/>
        </p:nvSpPr>
        <p:spPr>
          <a:xfrm>
            <a:off x="7406640" y="3913632"/>
            <a:ext cx="457200" cy="457200"/>
          </a:xfrm>
          <a:prstGeom prst="ellipse">
            <a:avLst/>
          </a:prstGeom>
          <a:solidFill>
            <a:schemeClr val="accent1"/>
          </a:solidFill>
          <a:ln w="12700">
            <a:solidFill>
              <a:schemeClr val="accent1"/>
            </a:solidFill>
            <a:prstDash val="solid"/>
          </a:ln>
        </p:spPr>
      </p:sp>
      <p:sp>
        <p:nvSpPr>
          <p:cNvPr id="22" name="text-19"/>
          <p:cNvSpPr txBox="1"/>
          <p:nvPr/>
        </p:nvSpPr>
        <p:spPr>
          <a:xfrm>
            <a:off x="7406640" y="391363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3" name="text-20"/>
          <p:cNvSpPr txBox="1"/>
          <p:nvPr/>
        </p:nvSpPr>
        <p:spPr>
          <a:xfrm>
            <a:off x="8046720" y="3840480"/>
            <a:ext cx="2377440" cy="320040"/>
          </a:xfrm>
          <a:prstGeom prst="rect">
            <a:avLst/>
          </a:prstGeom>
          <a:noFill/>
          <a:ln/>
        </p:spPr>
        <p:txBody>
          <a:bodyPr wrap="square" lIns="0" tIns="0" rIns="0" bIns="0" rtlCol="0" anchor="ctr"/>
          <a:lstStyle/>
          <a:p>
            <a:pPr indent="0" marL="0">
              <a:buNone/>
            </a:pPr>
            <a:r>
              <a:rPr lang="en-US" sz="1500" b="1" dirty="0">
                <a:solidFill>
                  <a:schemeClr val="tx1"/>
                </a:solidFill>
              </a:rPr>
              <a:t>Quillstone</a:t>
            </a:r>
            <a:endParaRPr lang="en-US" sz="1500" dirty="0"/>
          </a:p>
        </p:txBody>
      </p:sp>
      <p:sp>
        <p:nvSpPr>
          <p:cNvPr id="24" name="text-21"/>
          <p:cNvSpPr txBox="1"/>
          <p:nvPr/>
        </p:nvSpPr>
        <p:spPr>
          <a:xfrm>
            <a:off x="8046720" y="4160520"/>
            <a:ext cx="2468880" cy="274320"/>
          </a:xfrm>
          <a:prstGeom prst="rect">
            <a:avLst/>
          </a:prstGeom>
          <a:noFill/>
          <a:ln/>
        </p:spPr>
        <p:txBody>
          <a:bodyPr wrap="square" lIns="0" tIns="0" rIns="0" bIns="0" rtlCol="0" anchor="ctr"/>
          <a:lstStyle/>
          <a:p>
            <a:pPr indent="0" marL="0">
              <a:buNone/>
            </a:pPr>
            <a:r>
              <a:rPr lang="en-US" sz="1100" dirty="0">
                <a:solidFill>
                  <a:schemeClr val="tx2"/>
                </a:solidFill>
              </a:rPr>
              <a:t>Champion left last month</a:t>
            </a:r>
            <a:endParaRPr lang="en-US" sz="1100" dirty="0"/>
          </a:p>
        </p:txBody>
      </p:sp>
      <p:sp>
        <p:nvSpPr>
          <p:cNvPr id="25" name="text-22"/>
          <p:cNvSpPr txBox="1"/>
          <p:nvPr/>
        </p:nvSpPr>
        <p:spPr>
          <a:xfrm>
            <a:off x="10607040" y="3840480"/>
            <a:ext cx="731520" cy="320040"/>
          </a:xfrm>
          <a:prstGeom prst="rect">
            <a:avLst/>
          </a:prstGeom>
          <a:noFill/>
          <a:ln/>
        </p:spPr>
        <p:txBody>
          <a:bodyPr wrap="square" lIns="0" tIns="0" rIns="0" bIns="0" rtlCol="0" anchor="ctr"/>
          <a:lstStyle/>
          <a:p>
            <a:pPr algn="r" indent="0" marL="0">
              <a:buNone/>
            </a:pPr>
            <a:r>
              <a:rPr lang="en-US" sz="1500" b="1" dirty="0">
                <a:solidFill>
                  <a:schemeClr val="accent1"/>
                </a:solidFill>
              </a:rPr>
              <a:t>29%</a:t>
            </a:r>
            <a:endParaRPr lang="en-US" sz="1500" dirty="0"/>
          </a:p>
        </p:txBody>
      </p:sp>
      <p:sp>
        <p:nvSpPr>
          <p:cNvPr id="26" name="track-23"/>
          <p:cNvSpPr/>
          <p:nvPr/>
        </p:nvSpPr>
        <p:spPr>
          <a:xfrm>
            <a:off x="10607040" y="4251960"/>
            <a:ext cx="731520" cy="91440"/>
          </a:xfrm>
          <a:prstGeom prst="rect">
            <a:avLst/>
          </a:prstGeom>
          <a:solidFill>
            <a:schemeClr val="bg2"/>
          </a:solidFill>
          <a:ln w="12700">
            <a:solidFill>
              <a:schemeClr val="bg2"/>
            </a:solidFill>
            <a:prstDash val="solid"/>
          </a:ln>
        </p:spPr>
      </p:sp>
      <p:sp>
        <p:nvSpPr>
          <p:cNvPr id="27" name="bar-24"/>
          <p:cNvSpPr/>
          <p:nvPr/>
        </p:nvSpPr>
        <p:spPr>
          <a:xfrm>
            <a:off x="10607040" y="4251960"/>
            <a:ext cx="471424" cy="91440"/>
          </a:xfrm>
          <a:prstGeom prst="rect">
            <a:avLst/>
          </a:prstGeom>
          <a:solidFill>
            <a:schemeClr val="accent1"/>
          </a:solidFill>
          <a:ln w="12700">
            <a:solidFill>
              <a:schemeClr val="accent1"/>
            </a:solidFill>
            <a:prstDash val="solid"/>
          </a:ln>
        </p:spPr>
      </p:sp>
      <p:sp>
        <p:nvSpPr>
          <p:cNvPr id="28" name="dot-25"/>
          <p:cNvSpPr/>
          <p:nvPr/>
        </p:nvSpPr>
        <p:spPr>
          <a:xfrm>
            <a:off x="7406640" y="4828032"/>
            <a:ext cx="457200" cy="457200"/>
          </a:xfrm>
          <a:prstGeom prst="ellipse">
            <a:avLst/>
          </a:prstGeom>
          <a:solidFill>
            <a:schemeClr val="accent1"/>
          </a:solidFill>
          <a:ln w="12700">
            <a:solidFill>
              <a:schemeClr val="accent1"/>
            </a:solidFill>
            <a:prstDash val="solid"/>
          </a:ln>
        </p:spPr>
      </p:sp>
      <p:sp>
        <p:nvSpPr>
          <p:cNvPr id="29" name="text-26"/>
          <p:cNvSpPr txBox="1"/>
          <p:nvPr/>
        </p:nvSpPr>
        <p:spPr>
          <a:xfrm>
            <a:off x="7406640" y="482803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30" name="text-27"/>
          <p:cNvSpPr txBox="1"/>
          <p:nvPr/>
        </p:nvSpPr>
        <p:spPr>
          <a:xfrm>
            <a:off x="8046720" y="4754880"/>
            <a:ext cx="2377440" cy="320040"/>
          </a:xfrm>
          <a:prstGeom prst="rect">
            <a:avLst/>
          </a:prstGeom>
          <a:noFill/>
          <a:ln/>
        </p:spPr>
        <p:txBody>
          <a:bodyPr wrap="square" lIns="0" tIns="0" rIns="0" bIns="0" rtlCol="0" anchor="ctr"/>
          <a:lstStyle/>
          <a:p>
            <a:pPr indent="0" marL="0">
              <a:buNone/>
            </a:pPr>
            <a:r>
              <a:rPr lang="en-US" sz="1500" b="1" dirty="0">
                <a:solidFill>
                  <a:schemeClr val="tx1"/>
                </a:solidFill>
              </a:rPr>
              <a:t>Meridian Clinics</a:t>
            </a:r>
            <a:endParaRPr lang="en-US" sz="1500" dirty="0"/>
          </a:p>
        </p:txBody>
      </p:sp>
      <p:sp>
        <p:nvSpPr>
          <p:cNvPr id="31" name="text-28"/>
          <p:cNvSpPr txBox="1"/>
          <p:nvPr/>
        </p:nvSpPr>
        <p:spPr>
          <a:xfrm>
            <a:off x="8046720" y="5074920"/>
            <a:ext cx="2468880" cy="274320"/>
          </a:xfrm>
          <a:prstGeom prst="rect">
            <a:avLst/>
          </a:prstGeom>
          <a:noFill/>
          <a:ln/>
        </p:spPr>
        <p:txBody>
          <a:bodyPr wrap="square" lIns="0" tIns="0" rIns="0" bIns="0" rtlCol="0" anchor="ctr"/>
          <a:lstStyle/>
          <a:p>
            <a:pPr indent="0" marL="0">
              <a:buNone/>
            </a:pPr>
            <a:r>
              <a:rPr lang="en-US" sz="1100" dirty="0">
                <a:solidFill>
                  <a:schemeClr val="tx2"/>
                </a:solidFill>
              </a:rPr>
              <a:t>Card declined twice</a:t>
            </a:r>
            <a:endParaRPr lang="en-US" sz="1100" dirty="0"/>
          </a:p>
        </p:txBody>
      </p:sp>
      <p:sp>
        <p:nvSpPr>
          <p:cNvPr id="32" name="text-29"/>
          <p:cNvSpPr txBox="1"/>
          <p:nvPr/>
        </p:nvSpPr>
        <p:spPr>
          <a:xfrm>
            <a:off x="10607040" y="4754880"/>
            <a:ext cx="731520" cy="320040"/>
          </a:xfrm>
          <a:prstGeom prst="rect">
            <a:avLst/>
          </a:prstGeom>
          <a:noFill/>
          <a:ln/>
        </p:spPr>
        <p:txBody>
          <a:bodyPr wrap="square" lIns="0" tIns="0" rIns="0" bIns="0" rtlCol="0" anchor="ctr"/>
          <a:lstStyle/>
          <a:p>
            <a:pPr algn="r" indent="0" marL="0">
              <a:buNone/>
            </a:pPr>
            <a:r>
              <a:rPr lang="en-US" sz="1500" b="1" dirty="0">
                <a:solidFill>
                  <a:schemeClr val="accent1"/>
                </a:solidFill>
              </a:rPr>
              <a:t>22%</a:t>
            </a:r>
            <a:endParaRPr lang="en-US" sz="1500" dirty="0"/>
          </a:p>
        </p:txBody>
      </p:sp>
      <p:sp>
        <p:nvSpPr>
          <p:cNvPr id="33" name="track-30"/>
          <p:cNvSpPr/>
          <p:nvPr/>
        </p:nvSpPr>
        <p:spPr>
          <a:xfrm>
            <a:off x="10607040" y="5166360"/>
            <a:ext cx="731520" cy="91440"/>
          </a:xfrm>
          <a:prstGeom prst="rect">
            <a:avLst/>
          </a:prstGeom>
          <a:solidFill>
            <a:schemeClr val="bg2"/>
          </a:solidFill>
          <a:ln w="12700">
            <a:solidFill>
              <a:schemeClr val="bg2"/>
            </a:solidFill>
            <a:prstDash val="solid"/>
          </a:ln>
        </p:spPr>
      </p:sp>
      <p:sp>
        <p:nvSpPr>
          <p:cNvPr id="34" name="bar-31"/>
          <p:cNvSpPr/>
          <p:nvPr/>
        </p:nvSpPr>
        <p:spPr>
          <a:xfrm>
            <a:off x="10607040" y="5166360"/>
            <a:ext cx="357632" cy="91440"/>
          </a:xfrm>
          <a:prstGeom prst="rect">
            <a:avLst/>
          </a:prstGeom>
          <a:solidFill>
            <a:schemeClr val="accent1"/>
          </a:solidFill>
          <a:ln w="12700">
            <a:solidFill>
              <a:schemeClr val="accent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The problem is attention, not visibility</a:t>
            </a:r>
            <a:endParaRPr lang="en-US" sz="3400" dirty="0"/>
          </a:p>
        </p:txBody>
      </p:sp>
      <p:sp>
        <p:nvSpPr>
          <p:cNvPr id="3" name="text-32"/>
          <p:cNvSpPr txBox="1"/>
          <p:nvPr/>
        </p:nvSpPr>
        <p:spPr>
          <a:xfrm>
            <a:off x="548640" y="1463040"/>
            <a:ext cx="5120640" cy="4297680"/>
          </a:xfrm>
          <a:prstGeom prst="rect">
            <a:avLst/>
          </a:prstGeom>
          <a:noFill/>
          <a:ln/>
        </p:spPr>
        <p:txBody>
          <a:bodyPr wrap="square" lIns="0" tIns="0" rIns="0" bIns="0" rtlCol="0" anchor="ctr"/>
          <a:lstStyle/>
          <a:p>
            <a:pPr indent="0" marL="0">
              <a:spcAft>
                <a:spcPts val="1400"/>
              </a:spcAft>
              <a:buNone/>
            </a:pPr>
            <a:r>
              <a:rPr lang="en-US" sz="1800" dirty="0">
                <a:solidFill>
                  <a:schemeClr val="tx2"/>
                </a:solidFill>
              </a:rPr>
              <a:t>Two renewals were lost while the warning signs sat in support tickets and product usage.</a:t>
            </a:r>
            <a:endParaRPr lang="en-US" sz="1800" dirty="0"/>
          </a:p>
          <a:p>
            <a:pPr indent="0" marL="0">
              <a:spcAft>
                <a:spcPts val="1400"/>
              </a:spcAft>
              <a:buNone/>
            </a:pPr>
            <a:r>
              <a:rPr lang="en-US" sz="1800" dirty="0">
                <a:solidFill>
                  <a:schemeClr val="tx2"/>
                </a:solidFill>
              </a:rPr>
              <a:t>Nobody was watching across five systems, and a CSM can't read five systems every week.</a:t>
            </a:r>
            <a:endParaRPr lang="en-US" sz="1800" dirty="0"/>
          </a:p>
          <a:p>
            <a:pPr indent="0" marL="0">
              <a:buNone/>
            </a:pPr>
            <a:r>
              <a:rPr lang="en-US" sz="1800" b="1" dirty="0">
                <a:solidFill>
                  <a:schemeClr val="tx1"/>
                </a:solidFill>
              </a:rPr>
              <a:t>So the goal: every Monday, each CSM sees the few accounts most likely not to renew, why, and how sure the system is, early enough to act.</a:t>
            </a:r>
            <a:endParaRPr lang="en-US" sz="1800" dirty="0"/>
          </a:p>
        </p:txBody>
      </p:sp>
      <p:sp>
        <p:nvSpPr>
          <p:cNvPr id="4" name="card-33"/>
          <p:cNvSpPr/>
          <p:nvPr/>
        </p:nvSpPr>
        <p:spPr>
          <a:xfrm>
            <a:off x="6492240" y="1463040"/>
            <a:ext cx="5148072" cy="1280160"/>
          </a:xfrm>
          <a:prstGeom prst="roundRect">
            <a:avLst>
              <a:gd name="adj" fmla="val 5714"/>
            </a:avLst>
          </a:prstGeom>
          <a:solidFill>
            <a:schemeClr val="bg2"/>
          </a:solidFill>
          <a:ln w="12700">
            <a:solidFill>
              <a:schemeClr val="bg2"/>
            </a:solidFill>
            <a:prstDash val="solid"/>
          </a:ln>
        </p:spPr>
      </p:sp>
      <p:sp>
        <p:nvSpPr>
          <p:cNvPr id="5" name="text-34"/>
          <p:cNvSpPr txBox="1"/>
          <p:nvPr/>
        </p:nvSpPr>
        <p:spPr>
          <a:xfrm>
            <a:off x="6812280" y="1600200"/>
            <a:ext cx="1828800" cy="100584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~120</a:t>
            </a:r>
            <a:endParaRPr lang="en-US" sz="4800" dirty="0"/>
          </a:p>
        </p:txBody>
      </p:sp>
      <p:sp>
        <p:nvSpPr>
          <p:cNvPr id="6" name="text-35"/>
          <p:cNvSpPr txBox="1"/>
          <p:nvPr/>
        </p:nvSpPr>
        <p:spPr>
          <a:xfrm>
            <a:off x="8732520" y="1600200"/>
            <a:ext cx="2743200" cy="1005840"/>
          </a:xfrm>
          <a:prstGeom prst="rect">
            <a:avLst/>
          </a:prstGeom>
          <a:noFill/>
          <a:ln/>
        </p:spPr>
        <p:txBody>
          <a:bodyPr wrap="square" lIns="0" tIns="0" rIns="0" bIns="0" rtlCol="0" anchor="ctr"/>
          <a:lstStyle/>
          <a:p>
            <a:pPr indent="0" marL="0">
              <a:buNone/>
            </a:pPr>
            <a:r>
              <a:rPr lang="en-US" sz="1800" dirty="0">
                <a:solidFill>
                  <a:schemeClr val="tx1"/>
                </a:solidFill>
              </a:rPr>
              <a:t>accounts per CSM</a:t>
            </a:r>
            <a:endParaRPr lang="en-US" sz="1800" dirty="0"/>
          </a:p>
        </p:txBody>
      </p:sp>
      <p:sp>
        <p:nvSpPr>
          <p:cNvPr id="7" name="card-36"/>
          <p:cNvSpPr/>
          <p:nvPr/>
        </p:nvSpPr>
        <p:spPr>
          <a:xfrm>
            <a:off x="6492240" y="2971800"/>
            <a:ext cx="5148072" cy="1280160"/>
          </a:xfrm>
          <a:prstGeom prst="roundRect">
            <a:avLst>
              <a:gd name="adj" fmla="val 5714"/>
            </a:avLst>
          </a:prstGeom>
          <a:solidFill>
            <a:schemeClr val="bg2"/>
          </a:solidFill>
          <a:ln w="12700">
            <a:solidFill>
              <a:schemeClr val="bg2"/>
            </a:solidFill>
            <a:prstDash val="solid"/>
          </a:ln>
        </p:spPr>
      </p:sp>
      <p:sp>
        <p:nvSpPr>
          <p:cNvPr id="8" name="text-37"/>
          <p:cNvSpPr txBox="1"/>
          <p:nvPr/>
        </p:nvSpPr>
        <p:spPr>
          <a:xfrm>
            <a:off x="6812280" y="3108960"/>
            <a:ext cx="1828800" cy="100584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~10</a:t>
            </a:r>
            <a:endParaRPr lang="en-US" sz="4800" dirty="0"/>
          </a:p>
        </p:txBody>
      </p:sp>
      <p:sp>
        <p:nvSpPr>
          <p:cNvPr id="9" name="text-38"/>
          <p:cNvSpPr txBox="1"/>
          <p:nvPr/>
        </p:nvSpPr>
        <p:spPr>
          <a:xfrm>
            <a:off x="8732520" y="3108960"/>
            <a:ext cx="2743200" cy="1005840"/>
          </a:xfrm>
          <a:prstGeom prst="rect">
            <a:avLst/>
          </a:prstGeom>
          <a:noFill/>
          <a:ln/>
        </p:spPr>
        <p:txBody>
          <a:bodyPr wrap="square" lIns="0" tIns="0" rIns="0" bIns="0" rtlCol="0" anchor="ctr"/>
          <a:lstStyle/>
          <a:p>
            <a:pPr indent="0" marL="0">
              <a:buNone/>
            </a:pPr>
            <a:r>
              <a:rPr lang="en-US" sz="1800" dirty="0">
                <a:solidFill>
                  <a:schemeClr val="tx1"/>
                </a:solidFill>
              </a:rPr>
              <a:t>they can act on in a week</a:t>
            </a:r>
            <a:endParaRPr lang="en-US" sz="1800" dirty="0"/>
          </a:p>
        </p:txBody>
      </p:sp>
      <p:sp>
        <p:nvSpPr>
          <p:cNvPr id="10" name="card-39"/>
          <p:cNvSpPr/>
          <p:nvPr/>
        </p:nvSpPr>
        <p:spPr>
          <a:xfrm>
            <a:off x="6492240" y="4480560"/>
            <a:ext cx="5148072" cy="1280160"/>
          </a:xfrm>
          <a:prstGeom prst="roundRect">
            <a:avLst>
              <a:gd name="adj" fmla="val 5714"/>
            </a:avLst>
          </a:prstGeom>
          <a:solidFill>
            <a:schemeClr val="bg2"/>
          </a:solidFill>
          <a:ln w="12700">
            <a:solidFill>
              <a:schemeClr val="bg2"/>
            </a:solidFill>
            <a:prstDash val="solid"/>
          </a:ln>
        </p:spPr>
      </p:sp>
      <p:sp>
        <p:nvSpPr>
          <p:cNvPr id="11" name="text-40"/>
          <p:cNvSpPr txBox="1"/>
          <p:nvPr/>
        </p:nvSpPr>
        <p:spPr>
          <a:xfrm>
            <a:off x="6812280" y="4617720"/>
            <a:ext cx="1828800" cy="100584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5</a:t>
            </a:r>
            <a:endParaRPr lang="en-US" sz="4800" dirty="0"/>
          </a:p>
        </p:txBody>
      </p:sp>
      <p:sp>
        <p:nvSpPr>
          <p:cNvPr id="12" name="text-41"/>
          <p:cNvSpPr txBox="1"/>
          <p:nvPr/>
        </p:nvSpPr>
        <p:spPr>
          <a:xfrm>
            <a:off x="8732520" y="4617720"/>
            <a:ext cx="2743200" cy="1005840"/>
          </a:xfrm>
          <a:prstGeom prst="rect">
            <a:avLst/>
          </a:prstGeom>
          <a:noFill/>
          <a:ln/>
        </p:spPr>
        <p:txBody>
          <a:bodyPr wrap="square" lIns="0" tIns="0" rIns="0" bIns="0" rtlCol="0" anchor="ctr"/>
          <a:lstStyle/>
          <a:p>
            <a:pPr indent="0" marL="0">
              <a:buNone/>
            </a:pPr>
            <a:r>
              <a:rPr lang="en-US" sz="1800" dirty="0">
                <a:solidFill>
                  <a:schemeClr val="tx1"/>
                </a:solidFill>
              </a:rPr>
              <a:t>source systems to read</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Where I disagreed with the request</a:t>
            </a:r>
            <a:endParaRPr lang="en-US" sz="3400" dirty="0"/>
          </a:p>
        </p:txBody>
      </p:sp>
      <p:sp>
        <p:nvSpPr>
          <p:cNvPr id="3" name="text-42"/>
          <p:cNvSpPr txBox="1"/>
          <p:nvPr/>
        </p:nvSpPr>
        <p:spPr>
          <a:xfrm>
            <a:off x="548640" y="1371600"/>
            <a:ext cx="3017520" cy="320040"/>
          </a:xfrm>
          <a:prstGeom prst="rect">
            <a:avLst/>
          </a:prstGeom>
          <a:noFill/>
          <a:ln/>
        </p:spPr>
        <p:txBody>
          <a:bodyPr wrap="square" lIns="0" tIns="0" rIns="0" bIns="0" rtlCol="0" anchor="ctr"/>
          <a:lstStyle/>
          <a:p>
            <a:pPr indent="0" marL="0">
              <a:buNone/>
            </a:pPr>
            <a:r>
              <a:rPr lang="en-US" sz="1200" b="1" spc="100" kern="0" dirty="0">
                <a:solidFill>
                  <a:schemeClr val="tx2"/>
                </a:solidFill>
              </a:rPr>
              <a:t>ASKED FOR</a:t>
            </a:r>
            <a:endParaRPr lang="en-US" sz="1200" dirty="0"/>
          </a:p>
        </p:txBody>
      </p:sp>
      <p:sp>
        <p:nvSpPr>
          <p:cNvPr id="4" name="text-43"/>
          <p:cNvSpPr txBox="1"/>
          <p:nvPr/>
        </p:nvSpPr>
        <p:spPr>
          <a:xfrm>
            <a:off x="3840480" y="1371600"/>
            <a:ext cx="3566160" cy="320040"/>
          </a:xfrm>
          <a:prstGeom prst="rect">
            <a:avLst/>
          </a:prstGeom>
          <a:noFill/>
          <a:ln/>
        </p:spPr>
        <p:txBody>
          <a:bodyPr wrap="square" lIns="0" tIns="0" rIns="0" bIns="0" rtlCol="0" anchor="ctr"/>
          <a:lstStyle/>
          <a:p>
            <a:pPr indent="0" marL="0">
              <a:buNone/>
            </a:pPr>
            <a:r>
              <a:rPr lang="en-US" sz="1200" b="1" spc="100" kern="0" dirty="0">
                <a:solidFill>
                  <a:schemeClr val="tx2"/>
                </a:solidFill>
              </a:rPr>
              <a:t>BUILT INSTEAD</a:t>
            </a:r>
            <a:endParaRPr lang="en-US" sz="1200" dirty="0"/>
          </a:p>
        </p:txBody>
      </p:sp>
      <p:sp>
        <p:nvSpPr>
          <p:cNvPr id="5" name="text-44"/>
          <p:cNvSpPr txBox="1"/>
          <p:nvPr/>
        </p:nvSpPr>
        <p:spPr>
          <a:xfrm>
            <a:off x="7680960" y="1371600"/>
            <a:ext cx="3959352" cy="320040"/>
          </a:xfrm>
          <a:prstGeom prst="rect">
            <a:avLst/>
          </a:prstGeom>
          <a:noFill/>
          <a:ln/>
        </p:spPr>
        <p:txBody>
          <a:bodyPr wrap="square" lIns="0" tIns="0" rIns="0" bIns="0" rtlCol="0" anchor="ctr"/>
          <a:lstStyle/>
          <a:p>
            <a:pPr indent="0" marL="0">
              <a:buNone/>
            </a:pPr>
            <a:r>
              <a:rPr lang="en-US" sz="1200" b="1" spc="100" kern="0" dirty="0">
                <a:solidFill>
                  <a:schemeClr val="tx2"/>
                </a:solidFill>
              </a:rPr>
              <a:t>WHY</a:t>
            </a:r>
            <a:endParaRPr lang="en-US" sz="1200" dirty="0"/>
          </a:p>
        </p:txBody>
      </p:sp>
      <p:sp>
        <p:nvSpPr>
          <p:cNvPr id="6" name="card-45"/>
          <p:cNvSpPr/>
          <p:nvPr/>
        </p:nvSpPr>
        <p:spPr>
          <a:xfrm>
            <a:off x="548640" y="1783080"/>
            <a:ext cx="11094415" cy="1280160"/>
          </a:xfrm>
          <a:prstGeom prst="roundRect">
            <a:avLst>
              <a:gd name="adj" fmla="val 5714"/>
            </a:avLst>
          </a:prstGeom>
          <a:solidFill>
            <a:schemeClr val="bg2"/>
          </a:solidFill>
          <a:ln w="12700">
            <a:solidFill>
              <a:schemeClr val="bg2"/>
            </a:solidFill>
            <a:prstDash val="solid"/>
          </a:ln>
        </p:spPr>
      </p:sp>
      <p:sp>
        <p:nvSpPr>
          <p:cNvPr id="7" name="text-46"/>
          <p:cNvSpPr txBox="1"/>
          <p:nvPr/>
        </p:nvSpPr>
        <p:spPr>
          <a:xfrm>
            <a:off x="777240" y="1783080"/>
            <a:ext cx="2880360" cy="1280160"/>
          </a:xfrm>
          <a:prstGeom prst="rect">
            <a:avLst/>
          </a:prstGeom>
          <a:noFill/>
          <a:ln/>
        </p:spPr>
        <p:txBody>
          <a:bodyPr wrap="square" lIns="0" tIns="0" rIns="0" bIns="0" rtlCol="0" anchor="ctr"/>
          <a:lstStyle/>
          <a:p>
            <a:pPr indent="0" marL="0">
              <a:buNone/>
            </a:pPr>
            <a:r>
              <a:rPr lang="en-US" sz="1600" dirty="0">
                <a:solidFill>
                  <a:schemeClr val="tx2"/>
                </a:solidFill>
              </a:rPr>
              <a:t>Red/yellow/green health dashboard</a:t>
            </a:r>
            <a:endParaRPr lang="en-US" sz="1600" dirty="0"/>
          </a:p>
        </p:txBody>
      </p:sp>
      <p:sp>
        <p:nvSpPr>
          <p:cNvPr id="8" name="text-47"/>
          <p:cNvSpPr txBox="1"/>
          <p:nvPr/>
        </p:nvSpPr>
        <p:spPr>
          <a:xfrm>
            <a:off x="3840480" y="1783080"/>
            <a:ext cx="3566160" cy="1280160"/>
          </a:xfrm>
          <a:prstGeom prst="rect">
            <a:avLst/>
          </a:prstGeom>
          <a:noFill/>
          <a:ln/>
        </p:spPr>
        <p:txBody>
          <a:bodyPr wrap="square" lIns="0" tIns="0" rIns="0" bIns="0" rtlCol="0" anchor="ctr"/>
          <a:lstStyle/>
          <a:p>
            <a:pPr indent="0" marL="0">
              <a:buNone/>
            </a:pPr>
            <a:r>
              <a:rPr lang="en-US" sz="1600" b="1" dirty="0">
                <a:solidFill>
                  <a:schemeClr val="tx1"/>
                </a:solidFill>
              </a:rPr>
              <a:t>A ranked worklist per CSM, with reasons</a:t>
            </a:r>
            <a:endParaRPr lang="en-US" sz="1600" dirty="0"/>
          </a:p>
        </p:txBody>
      </p:sp>
      <p:sp>
        <p:nvSpPr>
          <p:cNvPr id="9" name="text-48"/>
          <p:cNvSpPr txBox="1"/>
          <p:nvPr/>
        </p:nvSpPr>
        <p:spPr>
          <a:xfrm>
            <a:off x="7680960" y="1783080"/>
            <a:ext cx="3749040" cy="1280160"/>
          </a:xfrm>
          <a:prstGeom prst="rect">
            <a:avLst/>
          </a:prstGeom>
          <a:noFill/>
          <a:ln/>
        </p:spPr>
        <p:txBody>
          <a:bodyPr wrap="square" lIns="0" tIns="0" rIns="0" bIns="0" rtlCol="0" anchor="ctr"/>
          <a:lstStyle/>
          <a:p>
            <a:pPr indent="0" marL="0">
              <a:buNone/>
            </a:pPr>
            <a:r>
              <a:rPr lang="en-US" sz="1500" dirty="0">
                <a:solidFill>
                  <a:schemeClr val="tx2"/>
                </a:solidFill>
              </a:rPr>
              <a:t>A colour doesn't say who to call first. Bands follow CSM capacity, not fixed thresholds</a:t>
            </a:r>
            <a:endParaRPr lang="en-US" sz="1500" dirty="0"/>
          </a:p>
        </p:txBody>
      </p:sp>
      <p:sp>
        <p:nvSpPr>
          <p:cNvPr id="10" name="card-49"/>
          <p:cNvSpPr/>
          <p:nvPr/>
        </p:nvSpPr>
        <p:spPr>
          <a:xfrm>
            <a:off x="548640" y="3246120"/>
            <a:ext cx="11094415" cy="1280160"/>
          </a:xfrm>
          <a:prstGeom prst="roundRect">
            <a:avLst>
              <a:gd name="adj" fmla="val 5714"/>
            </a:avLst>
          </a:prstGeom>
          <a:solidFill>
            <a:schemeClr val="bg1"/>
          </a:solidFill>
          <a:ln w="12700">
            <a:solidFill>
              <a:schemeClr val="bg1"/>
            </a:solidFill>
            <a:prstDash val="solid"/>
          </a:ln>
        </p:spPr>
      </p:sp>
      <p:sp>
        <p:nvSpPr>
          <p:cNvPr id="11" name="text-50"/>
          <p:cNvSpPr txBox="1"/>
          <p:nvPr/>
        </p:nvSpPr>
        <p:spPr>
          <a:xfrm>
            <a:off x="777240" y="3246120"/>
            <a:ext cx="2880360" cy="1280160"/>
          </a:xfrm>
          <a:prstGeom prst="rect">
            <a:avLst/>
          </a:prstGeom>
          <a:noFill/>
          <a:ln/>
        </p:spPr>
        <p:txBody>
          <a:bodyPr wrap="square" lIns="0" tIns="0" rIns="0" bIns="0" rtlCol="0" anchor="ctr"/>
          <a:lstStyle/>
          <a:p>
            <a:pPr indent="0" marL="0">
              <a:buNone/>
            </a:pPr>
            <a:r>
              <a:rPr lang="en-US" sz="1600" dirty="0">
                <a:solidFill>
                  <a:schemeClr val="tx2"/>
                </a:solidFill>
              </a:rPr>
              <a:t>Auto-email customers who turn red</a:t>
            </a:r>
            <a:endParaRPr lang="en-US" sz="1600" dirty="0"/>
          </a:p>
        </p:txBody>
      </p:sp>
      <p:sp>
        <p:nvSpPr>
          <p:cNvPr id="12" name="text-51"/>
          <p:cNvSpPr txBox="1"/>
          <p:nvPr/>
        </p:nvSpPr>
        <p:spPr>
          <a:xfrm>
            <a:off x="3840480" y="3246120"/>
            <a:ext cx="3566160" cy="1280160"/>
          </a:xfrm>
          <a:prstGeom prst="rect">
            <a:avLst/>
          </a:prstGeom>
          <a:noFill/>
          <a:ln/>
        </p:spPr>
        <p:txBody>
          <a:bodyPr wrap="square" lIns="0" tIns="0" rIns="0" bIns="0" rtlCol="0" anchor="ctr"/>
          <a:lstStyle/>
          <a:p>
            <a:pPr indent="0" marL="0">
              <a:buNone/>
            </a:pPr>
            <a:r>
              <a:rPr lang="en-US" sz="1600" b="1" dirty="0">
                <a:solidFill>
                  <a:schemeClr val="tx1"/>
                </a:solidFill>
              </a:rPr>
              <a:t>Drafts a CSM approves and sends. The system sends nothing</a:t>
            </a:r>
            <a:endParaRPr lang="en-US" sz="1600" dirty="0"/>
          </a:p>
        </p:txBody>
      </p:sp>
      <p:sp>
        <p:nvSpPr>
          <p:cNvPr id="13" name="text-52"/>
          <p:cNvSpPr txBox="1"/>
          <p:nvPr/>
        </p:nvSpPr>
        <p:spPr>
          <a:xfrm>
            <a:off x="7680960" y="3246120"/>
            <a:ext cx="3749040" cy="1280160"/>
          </a:xfrm>
          <a:prstGeom prst="rect">
            <a:avLst/>
          </a:prstGeom>
          <a:noFill/>
          <a:ln/>
        </p:spPr>
        <p:txBody>
          <a:bodyPr wrap="square" lIns="0" tIns="0" rIns="0" bIns="0" rtlCol="0" anchor="ctr"/>
          <a:lstStyle/>
          <a:p>
            <a:pPr indent="0" marL="0">
              <a:buNone/>
            </a:pPr>
            <a:r>
              <a:rPr lang="en-US" sz="1500" dirty="0">
                <a:solidFill>
                  <a:schemeClr val="tx2"/>
                </a:solidFill>
              </a:rPr>
              <a:t>A false positive tells a healthy customer they're "at risk". That's hard to undo</a:t>
            </a:r>
            <a:endParaRPr lang="en-US" sz="1500" dirty="0"/>
          </a:p>
        </p:txBody>
      </p:sp>
      <p:sp>
        <p:nvSpPr>
          <p:cNvPr id="14" name="card-53"/>
          <p:cNvSpPr/>
          <p:nvPr/>
        </p:nvSpPr>
        <p:spPr>
          <a:xfrm>
            <a:off x="548640" y="4709160"/>
            <a:ext cx="11094415" cy="1280160"/>
          </a:xfrm>
          <a:prstGeom prst="roundRect">
            <a:avLst>
              <a:gd name="adj" fmla="val 5714"/>
            </a:avLst>
          </a:prstGeom>
          <a:solidFill>
            <a:schemeClr val="bg2"/>
          </a:solidFill>
          <a:ln w="12700">
            <a:solidFill>
              <a:schemeClr val="bg2"/>
            </a:solidFill>
            <a:prstDash val="solid"/>
          </a:ln>
        </p:spPr>
      </p:sp>
      <p:sp>
        <p:nvSpPr>
          <p:cNvPr id="15" name="text-54"/>
          <p:cNvSpPr txBox="1"/>
          <p:nvPr/>
        </p:nvSpPr>
        <p:spPr>
          <a:xfrm>
            <a:off x="777240" y="4709160"/>
            <a:ext cx="2880360" cy="1280160"/>
          </a:xfrm>
          <a:prstGeom prst="rect">
            <a:avLst/>
          </a:prstGeom>
          <a:noFill/>
          <a:ln/>
        </p:spPr>
        <p:txBody>
          <a:bodyPr wrap="square" lIns="0" tIns="0" rIns="0" bIns="0" rtlCol="0" anchor="ctr"/>
          <a:lstStyle/>
          <a:p>
            <a:pPr indent="0" marL="0">
              <a:buNone/>
            </a:pPr>
            <a:r>
              <a:rPr lang="en-US" sz="1600" dirty="0">
                <a:solidFill>
                  <a:schemeClr val="tx2"/>
                </a:solidFill>
              </a:rPr>
              <a:t>"Nothing slips"</a:t>
            </a:r>
            <a:endParaRPr lang="en-US" sz="1600" dirty="0"/>
          </a:p>
        </p:txBody>
      </p:sp>
      <p:sp>
        <p:nvSpPr>
          <p:cNvPr id="16" name="text-55"/>
          <p:cNvSpPr txBox="1"/>
          <p:nvPr/>
        </p:nvSpPr>
        <p:spPr>
          <a:xfrm>
            <a:off x="3840480" y="4709160"/>
            <a:ext cx="3566160" cy="1280160"/>
          </a:xfrm>
          <a:prstGeom prst="rect">
            <a:avLst/>
          </a:prstGeom>
          <a:noFill/>
          <a:ln/>
        </p:spPr>
        <p:txBody>
          <a:bodyPr wrap="square" lIns="0" tIns="0" rIns="0" bIns="0" rtlCol="0" anchor="ctr"/>
          <a:lstStyle/>
          <a:p>
            <a:pPr indent="0" marL="0">
              <a:buNone/>
            </a:pPr>
            <a:r>
              <a:rPr lang="en-US" sz="1600" b="1" dirty="0">
                <a:solidFill>
                  <a:schemeClr val="tx1"/>
                </a:solidFill>
              </a:rPr>
              <a:t>Hit rate and lead time, measured, with misses reported</a:t>
            </a:r>
            <a:endParaRPr lang="en-US" sz="1600" dirty="0"/>
          </a:p>
        </p:txBody>
      </p:sp>
      <p:sp>
        <p:nvSpPr>
          <p:cNvPr id="17" name="text-56"/>
          <p:cNvSpPr txBox="1"/>
          <p:nvPr/>
        </p:nvSpPr>
        <p:spPr>
          <a:xfrm>
            <a:off x="7680960" y="4709160"/>
            <a:ext cx="3749040" cy="1280160"/>
          </a:xfrm>
          <a:prstGeom prst="rect">
            <a:avLst/>
          </a:prstGeom>
          <a:noFill/>
          <a:ln/>
        </p:spPr>
        <p:txBody>
          <a:bodyPr wrap="square" lIns="0" tIns="0" rIns="0" bIns="0" rtlCol="0" anchor="ctr"/>
          <a:lstStyle/>
          <a:p>
            <a:pPr indent="0" marL="0">
              <a:buNone/>
            </a:pPr>
            <a:r>
              <a:rPr lang="en-US" sz="1500" dirty="0">
                <a:solidFill>
                  <a:schemeClr val="tx2"/>
                </a:solidFill>
              </a:rPr>
              <a:t>No model catches everything. An unmeasurable promise turns into blame later</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How it works</a:t>
            </a:r>
            <a:endParaRPr lang="en-US" sz="3400" dirty="0"/>
          </a:p>
        </p:txBody>
      </p:sp>
      <p:sp>
        <p:nvSpPr>
          <p:cNvPr id="3" name="card-57"/>
          <p:cNvSpPr/>
          <p:nvPr/>
        </p:nvSpPr>
        <p:spPr>
          <a:xfrm>
            <a:off x="548640" y="1600200"/>
            <a:ext cx="1962851" cy="2651760"/>
          </a:xfrm>
          <a:prstGeom prst="roundRect">
            <a:avLst>
              <a:gd name="adj" fmla="val 3727"/>
            </a:avLst>
          </a:prstGeom>
          <a:solidFill>
            <a:schemeClr val="bg2"/>
          </a:solidFill>
          <a:ln w="12700">
            <a:solidFill>
              <a:schemeClr val="bg2"/>
            </a:solidFill>
            <a:prstDash val="solid"/>
          </a:ln>
        </p:spPr>
      </p:sp>
      <p:sp>
        <p:nvSpPr>
          <p:cNvPr id="4" name="dot-58"/>
          <p:cNvSpPr/>
          <p:nvPr/>
        </p:nvSpPr>
        <p:spPr>
          <a:xfrm>
            <a:off x="777240" y="1874520"/>
            <a:ext cx="502920" cy="502920"/>
          </a:xfrm>
          <a:prstGeom prst="ellipse">
            <a:avLst/>
          </a:prstGeom>
          <a:solidFill>
            <a:schemeClr val="accent1"/>
          </a:solidFill>
          <a:ln w="12700">
            <a:solidFill>
              <a:schemeClr val="accent1"/>
            </a:solidFill>
            <a:prstDash val="solid"/>
          </a:ln>
        </p:spPr>
      </p:sp>
      <p:sp>
        <p:nvSpPr>
          <p:cNvPr id="5" name="text-59"/>
          <p:cNvSpPr txBox="1"/>
          <p:nvPr/>
        </p:nvSpPr>
        <p:spPr>
          <a:xfrm>
            <a:off x="777240" y="18745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60"/>
          <p:cNvSpPr txBox="1"/>
          <p:nvPr/>
        </p:nvSpPr>
        <p:spPr>
          <a:xfrm>
            <a:off x="777240" y="2560320"/>
            <a:ext cx="1505651" cy="411480"/>
          </a:xfrm>
          <a:prstGeom prst="rect">
            <a:avLst/>
          </a:prstGeom>
          <a:noFill/>
          <a:ln/>
        </p:spPr>
        <p:txBody>
          <a:bodyPr wrap="square" lIns="0" tIns="0" rIns="0" bIns="0" rtlCol="0" anchor="ctr"/>
          <a:lstStyle/>
          <a:p>
            <a:pPr indent="0" marL="0">
              <a:buNone/>
            </a:pPr>
            <a:r>
              <a:rPr lang="en-US" sz="1900" b="1" dirty="0">
                <a:solidFill>
                  <a:schemeClr val="tx1"/>
                </a:solidFill>
              </a:rPr>
              <a:t>Ingest</a:t>
            </a:r>
            <a:endParaRPr lang="en-US" sz="1900" dirty="0"/>
          </a:p>
        </p:txBody>
      </p:sp>
      <p:sp>
        <p:nvSpPr>
          <p:cNvPr id="7" name="text-61"/>
          <p:cNvSpPr txBox="1"/>
          <p:nvPr/>
        </p:nvSpPr>
        <p:spPr>
          <a:xfrm>
            <a:off x="777240" y="3063240"/>
            <a:ext cx="1551371" cy="1600200"/>
          </a:xfrm>
          <a:prstGeom prst="rect">
            <a:avLst/>
          </a:prstGeom>
          <a:noFill/>
          <a:ln/>
        </p:spPr>
        <p:txBody>
          <a:bodyPr wrap="square" lIns="0" tIns="0" rIns="0" bIns="0" rtlCol="0" anchor="t"/>
          <a:lstStyle/>
          <a:p>
            <a:pPr indent="0" marL="0">
              <a:buNone/>
            </a:pPr>
            <a:r>
              <a:rPr lang="en-US" sz="1400" dirty="0">
                <a:solidFill>
                  <a:schemeClr val="tx2"/>
                </a:solidFill>
              </a:rPr>
              <a:t>5 sources, dedupe, identity matching, quarantine for unmatched records</a:t>
            </a:r>
            <a:endParaRPr lang="en-US" sz="1400" dirty="0"/>
          </a:p>
        </p:txBody>
      </p:sp>
      <p:sp>
        <p:nvSpPr>
          <p:cNvPr id="8" name="arrow-62"/>
          <p:cNvSpPr/>
          <p:nvPr/>
        </p:nvSpPr>
        <p:spPr>
          <a:xfrm>
            <a:off x="2602931" y="2788920"/>
            <a:ext cx="155448" cy="274320"/>
          </a:xfrm>
          <a:prstGeom prst="chevron">
            <a:avLst/>
          </a:prstGeom>
          <a:solidFill>
            <a:schemeClr val="accent6"/>
          </a:solidFill>
          <a:ln w="12700">
            <a:solidFill>
              <a:schemeClr val="accent6"/>
            </a:solidFill>
            <a:prstDash val="solid"/>
          </a:ln>
        </p:spPr>
      </p:sp>
      <p:sp>
        <p:nvSpPr>
          <p:cNvPr id="9" name="card-63"/>
          <p:cNvSpPr/>
          <p:nvPr/>
        </p:nvSpPr>
        <p:spPr>
          <a:xfrm>
            <a:off x="2831531" y="1600200"/>
            <a:ext cx="1962851" cy="2651760"/>
          </a:xfrm>
          <a:prstGeom prst="roundRect">
            <a:avLst>
              <a:gd name="adj" fmla="val 3727"/>
            </a:avLst>
          </a:prstGeom>
          <a:solidFill>
            <a:schemeClr val="bg2"/>
          </a:solidFill>
          <a:ln w="12700">
            <a:solidFill>
              <a:schemeClr val="bg2"/>
            </a:solidFill>
            <a:prstDash val="solid"/>
          </a:ln>
        </p:spPr>
      </p:sp>
      <p:sp>
        <p:nvSpPr>
          <p:cNvPr id="10" name="dot-64"/>
          <p:cNvSpPr/>
          <p:nvPr/>
        </p:nvSpPr>
        <p:spPr>
          <a:xfrm>
            <a:off x="3060131" y="1874520"/>
            <a:ext cx="502920" cy="502920"/>
          </a:xfrm>
          <a:prstGeom prst="ellipse">
            <a:avLst/>
          </a:prstGeom>
          <a:solidFill>
            <a:schemeClr val="accent1"/>
          </a:solidFill>
          <a:ln w="12700">
            <a:solidFill>
              <a:schemeClr val="accent1"/>
            </a:solidFill>
            <a:prstDash val="solid"/>
          </a:ln>
        </p:spPr>
      </p:sp>
      <p:sp>
        <p:nvSpPr>
          <p:cNvPr id="11" name="text-65"/>
          <p:cNvSpPr txBox="1"/>
          <p:nvPr/>
        </p:nvSpPr>
        <p:spPr>
          <a:xfrm>
            <a:off x="3060131" y="18745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66"/>
          <p:cNvSpPr txBox="1"/>
          <p:nvPr/>
        </p:nvSpPr>
        <p:spPr>
          <a:xfrm>
            <a:off x="3060131" y="2560320"/>
            <a:ext cx="1505651" cy="411480"/>
          </a:xfrm>
          <a:prstGeom prst="rect">
            <a:avLst/>
          </a:prstGeom>
          <a:noFill/>
          <a:ln/>
        </p:spPr>
        <p:txBody>
          <a:bodyPr wrap="square" lIns="0" tIns="0" rIns="0" bIns="0" rtlCol="0" anchor="ctr"/>
          <a:lstStyle/>
          <a:p>
            <a:pPr indent="0" marL="0">
              <a:buNone/>
            </a:pPr>
            <a:r>
              <a:rPr lang="en-US" sz="1900" b="1" dirty="0">
                <a:solidFill>
                  <a:schemeClr val="tx1"/>
                </a:solidFill>
              </a:rPr>
              <a:t>Signals</a:t>
            </a:r>
            <a:endParaRPr lang="en-US" sz="1900" dirty="0"/>
          </a:p>
        </p:txBody>
      </p:sp>
      <p:sp>
        <p:nvSpPr>
          <p:cNvPr id="13" name="text-67"/>
          <p:cNvSpPr txBox="1"/>
          <p:nvPr/>
        </p:nvSpPr>
        <p:spPr>
          <a:xfrm>
            <a:off x="3060131" y="3063240"/>
            <a:ext cx="1551371" cy="1600200"/>
          </a:xfrm>
          <a:prstGeom prst="rect">
            <a:avLst/>
          </a:prstGeom>
          <a:noFill/>
          <a:ln/>
        </p:spPr>
        <p:txBody>
          <a:bodyPr wrap="square" lIns="0" tIns="0" rIns="0" bIns="0" rtlCol="0" anchor="t"/>
          <a:lstStyle/>
          <a:p>
            <a:pPr indent="0" marL="0">
              <a:buNone/>
            </a:pPr>
            <a:r>
              <a:rPr lang="en-US" sz="1400" dirty="0">
                <a:solidFill>
                  <a:schemeClr val="tx2"/>
                </a:solidFill>
              </a:rPr>
              <a:t>30 point-in-time signals. Nothing from the future leaks in</a:t>
            </a:r>
            <a:endParaRPr lang="en-US" sz="1400" dirty="0"/>
          </a:p>
        </p:txBody>
      </p:sp>
      <p:sp>
        <p:nvSpPr>
          <p:cNvPr id="14" name="arrow-68"/>
          <p:cNvSpPr/>
          <p:nvPr/>
        </p:nvSpPr>
        <p:spPr>
          <a:xfrm>
            <a:off x="4885822" y="2788920"/>
            <a:ext cx="155448" cy="274320"/>
          </a:xfrm>
          <a:prstGeom prst="chevron">
            <a:avLst/>
          </a:prstGeom>
          <a:solidFill>
            <a:schemeClr val="accent6"/>
          </a:solidFill>
          <a:ln w="12700">
            <a:solidFill>
              <a:schemeClr val="accent6"/>
            </a:solidFill>
            <a:prstDash val="solid"/>
          </a:ln>
        </p:spPr>
      </p:sp>
      <p:sp>
        <p:nvSpPr>
          <p:cNvPr id="15" name="card-69"/>
          <p:cNvSpPr/>
          <p:nvPr/>
        </p:nvSpPr>
        <p:spPr>
          <a:xfrm>
            <a:off x="5114422" y="1600200"/>
            <a:ext cx="1962851" cy="2651760"/>
          </a:xfrm>
          <a:prstGeom prst="roundRect">
            <a:avLst>
              <a:gd name="adj" fmla="val 3727"/>
            </a:avLst>
          </a:prstGeom>
          <a:solidFill>
            <a:schemeClr val="bg2"/>
          </a:solidFill>
          <a:ln w="12700">
            <a:solidFill>
              <a:schemeClr val="bg2"/>
            </a:solidFill>
            <a:prstDash val="solid"/>
          </a:ln>
        </p:spPr>
      </p:sp>
      <p:sp>
        <p:nvSpPr>
          <p:cNvPr id="16" name="dot-70"/>
          <p:cNvSpPr/>
          <p:nvPr/>
        </p:nvSpPr>
        <p:spPr>
          <a:xfrm>
            <a:off x="5343022" y="1874520"/>
            <a:ext cx="502920" cy="502920"/>
          </a:xfrm>
          <a:prstGeom prst="ellipse">
            <a:avLst/>
          </a:prstGeom>
          <a:solidFill>
            <a:schemeClr val="accent1"/>
          </a:solidFill>
          <a:ln w="12700">
            <a:solidFill>
              <a:schemeClr val="accent1"/>
            </a:solidFill>
            <a:prstDash val="solid"/>
          </a:ln>
        </p:spPr>
      </p:sp>
      <p:sp>
        <p:nvSpPr>
          <p:cNvPr id="17" name="text-71"/>
          <p:cNvSpPr txBox="1"/>
          <p:nvPr/>
        </p:nvSpPr>
        <p:spPr>
          <a:xfrm>
            <a:off x="5343022" y="18745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72"/>
          <p:cNvSpPr txBox="1"/>
          <p:nvPr/>
        </p:nvSpPr>
        <p:spPr>
          <a:xfrm>
            <a:off x="5343022" y="2560320"/>
            <a:ext cx="1505651" cy="411480"/>
          </a:xfrm>
          <a:prstGeom prst="rect">
            <a:avLst/>
          </a:prstGeom>
          <a:noFill/>
          <a:ln/>
        </p:spPr>
        <p:txBody>
          <a:bodyPr wrap="square" lIns="0" tIns="0" rIns="0" bIns="0" rtlCol="0" anchor="ctr"/>
          <a:lstStyle/>
          <a:p>
            <a:pPr indent="0" marL="0">
              <a:buNone/>
            </a:pPr>
            <a:r>
              <a:rPr lang="en-US" sz="1900" b="1" dirty="0">
                <a:solidFill>
                  <a:schemeClr val="tx1"/>
                </a:solidFill>
              </a:rPr>
              <a:t>Model</a:t>
            </a:r>
            <a:endParaRPr lang="en-US" sz="1900" dirty="0"/>
          </a:p>
        </p:txBody>
      </p:sp>
      <p:sp>
        <p:nvSpPr>
          <p:cNvPr id="19" name="text-73"/>
          <p:cNvSpPr txBox="1"/>
          <p:nvPr/>
        </p:nvSpPr>
        <p:spPr>
          <a:xfrm>
            <a:off x="5343022" y="3063240"/>
            <a:ext cx="1551371" cy="1600200"/>
          </a:xfrm>
          <a:prstGeom prst="rect">
            <a:avLst/>
          </a:prstGeom>
          <a:noFill/>
          <a:ln/>
        </p:spPr>
        <p:txBody>
          <a:bodyPr wrap="square" lIns="0" tIns="0" rIns="0" bIns="0" rtlCol="0" anchor="t"/>
          <a:lstStyle/>
          <a:p>
            <a:pPr indent="0" marL="0">
              <a:buNone/>
            </a:pPr>
            <a:r>
              <a:rPr lang="en-US" sz="1400" dirty="0">
                <a:solidFill>
                  <a:schemeClr val="tx2"/>
                </a:solidFill>
              </a:rPr>
              <a:t>Pooled LightGBM, per-tenant calibration, gated weekly retrain</a:t>
            </a:r>
            <a:endParaRPr lang="en-US" sz="1400" dirty="0"/>
          </a:p>
        </p:txBody>
      </p:sp>
      <p:sp>
        <p:nvSpPr>
          <p:cNvPr id="20" name="arrow-74"/>
          <p:cNvSpPr/>
          <p:nvPr/>
        </p:nvSpPr>
        <p:spPr>
          <a:xfrm>
            <a:off x="7168713" y="2788920"/>
            <a:ext cx="155448" cy="274320"/>
          </a:xfrm>
          <a:prstGeom prst="chevron">
            <a:avLst/>
          </a:prstGeom>
          <a:solidFill>
            <a:schemeClr val="accent6"/>
          </a:solidFill>
          <a:ln w="12700">
            <a:solidFill>
              <a:schemeClr val="accent6"/>
            </a:solidFill>
            <a:prstDash val="solid"/>
          </a:ln>
        </p:spPr>
      </p:sp>
      <p:sp>
        <p:nvSpPr>
          <p:cNvPr id="21" name="card-75"/>
          <p:cNvSpPr/>
          <p:nvPr/>
        </p:nvSpPr>
        <p:spPr>
          <a:xfrm>
            <a:off x="7397313" y="1600200"/>
            <a:ext cx="1962851" cy="2651760"/>
          </a:xfrm>
          <a:prstGeom prst="roundRect">
            <a:avLst>
              <a:gd name="adj" fmla="val 3727"/>
            </a:avLst>
          </a:prstGeom>
          <a:solidFill>
            <a:schemeClr val="tx1"/>
          </a:solidFill>
          <a:ln w="12700">
            <a:solidFill>
              <a:schemeClr val="tx1"/>
            </a:solidFill>
            <a:prstDash val="solid"/>
          </a:ln>
        </p:spPr>
      </p:sp>
      <p:sp>
        <p:nvSpPr>
          <p:cNvPr id="22" name="dot-76"/>
          <p:cNvSpPr/>
          <p:nvPr/>
        </p:nvSpPr>
        <p:spPr>
          <a:xfrm>
            <a:off x="7625913" y="1874520"/>
            <a:ext cx="502920" cy="502920"/>
          </a:xfrm>
          <a:prstGeom prst="ellipse">
            <a:avLst/>
          </a:prstGeom>
          <a:solidFill>
            <a:schemeClr val="accent1"/>
          </a:solidFill>
          <a:ln w="12700">
            <a:solidFill>
              <a:schemeClr val="accent1"/>
            </a:solidFill>
            <a:prstDash val="solid"/>
          </a:ln>
        </p:spPr>
      </p:sp>
      <p:sp>
        <p:nvSpPr>
          <p:cNvPr id="23" name="text-77"/>
          <p:cNvSpPr txBox="1"/>
          <p:nvPr/>
        </p:nvSpPr>
        <p:spPr>
          <a:xfrm>
            <a:off x="7625913" y="18745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4" name="text-78"/>
          <p:cNvSpPr txBox="1"/>
          <p:nvPr/>
        </p:nvSpPr>
        <p:spPr>
          <a:xfrm>
            <a:off x="7625913" y="2560320"/>
            <a:ext cx="1505651" cy="411480"/>
          </a:xfrm>
          <a:prstGeom prst="rect">
            <a:avLst/>
          </a:prstGeom>
          <a:noFill/>
          <a:ln/>
        </p:spPr>
        <p:txBody>
          <a:bodyPr wrap="square" lIns="0" tIns="0" rIns="0" bIns="0" rtlCol="0" anchor="ctr"/>
          <a:lstStyle/>
          <a:p>
            <a:pPr indent="0" marL="0">
              <a:buNone/>
            </a:pPr>
            <a:r>
              <a:rPr lang="en-US" sz="1900" b="1" dirty="0">
                <a:solidFill>
                  <a:schemeClr val="bg1"/>
                </a:solidFill>
              </a:rPr>
              <a:t>Nightly agent</a:t>
            </a:r>
            <a:endParaRPr lang="en-US" sz="1900" dirty="0"/>
          </a:p>
        </p:txBody>
      </p:sp>
      <p:sp>
        <p:nvSpPr>
          <p:cNvPr id="25" name="text-79"/>
          <p:cNvSpPr txBox="1"/>
          <p:nvPr/>
        </p:nvSpPr>
        <p:spPr>
          <a:xfrm>
            <a:off x="7625913" y="3063240"/>
            <a:ext cx="1551371" cy="1600200"/>
          </a:xfrm>
          <a:prstGeom prst="rect">
            <a:avLst/>
          </a:prstGeom>
          <a:noFill/>
          <a:ln/>
        </p:spPr>
        <p:txBody>
          <a:bodyPr wrap="square" lIns="0" tIns="0" rIns="0" bIns="0" rtlCol="0" anchor="t"/>
          <a:lstStyle/>
          <a:p>
            <a:pPr indent="0" marL="0">
              <a:buNone/>
            </a:pPr>
            <a:r>
              <a:rPr lang="en-US" sz="1400" dirty="0">
                <a:solidFill>
                  <a:schemeClr val="bg2"/>
                </a:solidFill>
              </a:rPr>
              <a:t>Score, compare with last night, alert, gather evidence, draft</a:t>
            </a:r>
            <a:endParaRPr lang="en-US" sz="1400" dirty="0"/>
          </a:p>
        </p:txBody>
      </p:sp>
      <p:sp>
        <p:nvSpPr>
          <p:cNvPr id="26" name="arrow-80"/>
          <p:cNvSpPr/>
          <p:nvPr/>
        </p:nvSpPr>
        <p:spPr>
          <a:xfrm>
            <a:off x="9451604" y="2788920"/>
            <a:ext cx="155448" cy="274320"/>
          </a:xfrm>
          <a:prstGeom prst="chevron">
            <a:avLst/>
          </a:prstGeom>
          <a:solidFill>
            <a:schemeClr val="accent6"/>
          </a:solidFill>
          <a:ln w="12700">
            <a:solidFill>
              <a:schemeClr val="accent6"/>
            </a:solidFill>
            <a:prstDash val="solid"/>
          </a:ln>
        </p:spPr>
      </p:sp>
      <p:sp>
        <p:nvSpPr>
          <p:cNvPr id="27" name="card-81"/>
          <p:cNvSpPr/>
          <p:nvPr/>
        </p:nvSpPr>
        <p:spPr>
          <a:xfrm>
            <a:off x="9680204" y="1600200"/>
            <a:ext cx="1962851" cy="2651760"/>
          </a:xfrm>
          <a:prstGeom prst="roundRect">
            <a:avLst>
              <a:gd name="adj" fmla="val 3727"/>
            </a:avLst>
          </a:prstGeom>
          <a:solidFill>
            <a:schemeClr val="bg2"/>
          </a:solidFill>
          <a:ln w="12700">
            <a:solidFill>
              <a:schemeClr val="bg2"/>
            </a:solidFill>
            <a:prstDash val="solid"/>
          </a:ln>
        </p:spPr>
      </p:sp>
      <p:sp>
        <p:nvSpPr>
          <p:cNvPr id="28" name="dot-82"/>
          <p:cNvSpPr/>
          <p:nvPr/>
        </p:nvSpPr>
        <p:spPr>
          <a:xfrm>
            <a:off x="9908804" y="1874520"/>
            <a:ext cx="502920" cy="502920"/>
          </a:xfrm>
          <a:prstGeom prst="ellipse">
            <a:avLst/>
          </a:prstGeom>
          <a:solidFill>
            <a:schemeClr val="accent1"/>
          </a:solidFill>
          <a:ln w="12700">
            <a:solidFill>
              <a:schemeClr val="accent1"/>
            </a:solidFill>
            <a:prstDash val="solid"/>
          </a:ln>
        </p:spPr>
      </p:sp>
      <p:sp>
        <p:nvSpPr>
          <p:cNvPr id="29" name="text-83"/>
          <p:cNvSpPr txBox="1"/>
          <p:nvPr/>
        </p:nvSpPr>
        <p:spPr>
          <a:xfrm>
            <a:off x="9908804" y="18745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0" name="text-84"/>
          <p:cNvSpPr txBox="1"/>
          <p:nvPr/>
        </p:nvSpPr>
        <p:spPr>
          <a:xfrm>
            <a:off x="9908804" y="2560320"/>
            <a:ext cx="1505651" cy="411480"/>
          </a:xfrm>
          <a:prstGeom prst="rect">
            <a:avLst/>
          </a:prstGeom>
          <a:noFill/>
          <a:ln/>
        </p:spPr>
        <p:txBody>
          <a:bodyPr wrap="square" lIns="0" tIns="0" rIns="0" bIns="0" rtlCol="0" anchor="ctr"/>
          <a:lstStyle/>
          <a:p>
            <a:pPr indent="0" marL="0">
              <a:buNone/>
            </a:pPr>
            <a:r>
              <a:rPr lang="en-US" sz="1900" b="1" dirty="0">
                <a:solidFill>
                  <a:schemeClr val="tx1"/>
                </a:solidFill>
              </a:rPr>
              <a:t>Worklist</a:t>
            </a:r>
            <a:endParaRPr lang="en-US" sz="1900" dirty="0"/>
          </a:p>
        </p:txBody>
      </p:sp>
      <p:sp>
        <p:nvSpPr>
          <p:cNvPr id="31" name="text-85"/>
          <p:cNvSpPr txBox="1"/>
          <p:nvPr/>
        </p:nvSpPr>
        <p:spPr>
          <a:xfrm>
            <a:off x="9908804" y="3063240"/>
            <a:ext cx="1551371" cy="1600200"/>
          </a:xfrm>
          <a:prstGeom prst="rect">
            <a:avLst/>
          </a:prstGeom>
          <a:noFill/>
          <a:ln/>
        </p:spPr>
        <p:txBody>
          <a:bodyPr wrap="square" lIns="0" tIns="0" rIns="0" bIns="0" rtlCol="0" anchor="t"/>
          <a:lstStyle/>
          <a:p>
            <a:pPr indent="0" marL="0">
              <a:buNone/>
            </a:pPr>
            <a:r>
              <a:rPr lang="en-US" sz="1400" dirty="0">
                <a:solidFill>
                  <a:schemeClr val="tx2"/>
                </a:solidFill>
              </a:rPr>
              <a:t>Ranked per CSM, with reasons that drill down to source records</a:t>
            </a:r>
            <a:endParaRPr lang="en-US" sz="1400" dirty="0"/>
          </a:p>
        </p:txBody>
      </p:sp>
      <p:sp>
        <p:nvSpPr>
          <p:cNvPr id="32" name="text-86"/>
          <p:cNvSpPr txBox="1"/>
          <p:nvPr/>
        </p:nvSpPr>
        <p:spPr>
          <a:xfrm>
            <a:off x="548640" y="4663440"/>
            <a:ext cx="11094415" cy="457200"/>
          </a:xfrm>
          <a:prstGeom prst="rect">
            <a:avLst/>
          </a:prstGeom>
          <a:noFill/>
          <a:ln/>
        </p:spPr>
        <p:txBody>
          <a:bodyPr wrap="square" lIns="0" tIns="0" rIns="0" bIns="0" rtlCol="0" anchor="ctr"/>
          <a:lstStyle/>
          <a:p>
            <a:pPr indent="0" marL="0">
              <a:buNone/>
            </a:pPr>
            <a:r>
              <a:rPr lang="en-US" sz="1400" b="1" dirty="0">
                <a:solidFill>
                  <a:schemeClr val="tx1"/>
                </a:solidFill>
              </a:rPr>
              <a:t>Stack  </a:t>
            </a:r>
            <a:pPr indent="0" marL="0">
              <a:buNone/>
            </a:pPr>
            <a:r>
              <a:rPr lang="en-US" sz="1400" dirty="0">
                <a:solidFill>
                  <a:schemeClr val="tx2"/>
                </a:solidFill>
              </a:rPr>
              <a:t>Python 3.12 · Postgres 16 with forced row-level security · LightGBM + scikit-learn · FastAPI + HTMX · Claude Sonnet 5.5 for drafting only</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Synthetic data with planted answers</a:t>
            </a:r>
            <a:endParaRPr lang="en-US" sz="3400" dirty="0"/>
          </a:p>
        </p:txBody>
      </p:sp>
      <p:sp>
        <p:nvSpPr>
          <p:cNvPr id="3" name="text-87"/>
          <p:cNvSpPr txBox="1"/>
          <p:nvPr/>
        </p:nvSpPr>
        <p:spPr>
          <a:xfrm>
            <a:off x="548640" y="1417320"/>
            <a:ext cx="329184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5,000</a:t>
            </a:r>
            <a:endParaRPr lang="en-US" sz="4000" dirty="0"/>
          </a:p>
        </p:txBody>
      </p:sp>
      <p:sp>
        <p:nvSpPr>
          <p:cNvPr id="4" name="text-88"/>
          <p:cNvSpPr txBox="1"/>
          <p:nvPr/>
        </p:nvSpPr>
        <p:spPr>
          <a:xfrm>
            <a:off x="548640" y="2075688"/>
            <a:ext cx="3291840" cy="320040"/>
          </a:xfrm>
          <a:prstGeom prst="rect">
            <a:avLst/>
          </a:prstGeom>
          <a:noFill/>
          <a:ln/>
        </p:spPr>
        <p:txBody>
          <a:bodyPr wrap="square" lIns="0" tIns="0" rIns="0" bIns="0" rtlCol="0" anchor="ctr"/>
          <a:lstStyle/>
          <a:p>
            <a:pPr indent="0" marL="0">
              <a:buNone/>
            </a:pPr>
            <a:r>
              <a:rPr lang="en-US" sz="1500" dirty="0">
                <a:solidFill>
                  <a:schemeClr val="tx2"/>
                </a:solidFill>
              </a:rPr>
              <a:t>accounts</a:t>
            </a:r>
            <a:endParaRPr lang="en-US" sz="1500" dirty="0"/>
          </a:p>
        </p:txBody>
      </p:sp>
      <p:sp>
        <p:nvSpPr>
          <p:cNvPr id="5" name="text-89"/>
          <p:cNvSpPr txBox="1"/>
          <p:nvPr/>
        </p:nvSpPr>
        <p:spPr>
          <a:xfrm>
            <a:off x="548640" y="2560320"/>
            <a:ext cx="329184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208,919</a:t>
            </a:r>
            <a:endParaRPr lang="en-US" sz="4000" dirty="0"/>
          </a:p>
        </p:txBody>
      </p:sp>
      <p:sp>
        <p:nvSpPr>
          <p:cNvPr id="6" name="text-90"/>
          <p:cNvSpPr txBox="1"/>
          <p:nvPr/>
        </p:nvSpPr>
        <p:spPr>
          <a:xfrm>
            <a:off x="548640" y="3218688"/>
            <a:ext cx="3291840" cy="320040"/>
          </a:xfrm>
          <a:prstGeom prst="rect">
            <a:avLst/>
          </a:prstGeom>
          <a:noFill/>
          <a:ln/>
        </p:spPr>
        <p:txBody>
          <a:bodyPr wrap="square" lIns="0" tIns="0" rIns="0" bIns="0" rtlCol="0" anchor="ctr"/>
          <a:lstStyle/>
          <a:p>
            <a:pPr indent="0" marL="0">
              <a:buNone/>
            </a:pPr>
            <a:r>
              <a:rPr lang="en-US" sz="1500" dirty="0">
                <a:solidFill>
                  <a:schemeClr val="tx2"/>
                </a:solidFill>
              </a:rPr>
              <a:t>events from 5 sources</a:t>
            </a:r>
            <a:endParaRPr lang="en-US" sz="1500" dirty="0"/>
          </a:p>
        </p:txBody>
      </p:sp>
      <p:sp>
        <p:nvSpPr>
          <p:cNvPr id="7" name="text-91"/>
          <p:cNvSpPr txBox="1"/>
          <p:nvPr/>
        </p:nvSpPr>
        <p:spPr>
          <a:xfrm>
            <a:off x="548640" y="3703320"/>
            <a:ext cx="329184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4</a:t>
            </a:r>
            <a:endParaRPr lang="en-US" sz="4000" dirty="0"/>
          </a:p>
        </p:txBody>
      </p:sp>
      <p:sp>
        <p:nvSpPr>
          <p:cNvPr id="8" name="text-92"/>
          <p:cNvSpPr txBox="1"/>
          <p:nvPr/>
        </p:nvSpPr>
        <p:spPr>
          <a:xfrm>
            <a:off x="548640" y="4361688"/>
            <a:ext cx="3291840" cy="320040"/>
          </a:xfrm>
          <a:prstGeom prst="rect">
            <a:avLst/>
          </a:prstGeom>
          <a:noFill/>
          <a:ln/>
        </p:spPr>
        <p:txBody>
          <a:bodyPr wrap="square" lIns="0" tIns="0" rIns="0" bIns="0" rtlCol="0" anchor="ctr"/>
          <a:lstStyle/>
          <a:p>
            <a:pPr indent="0" marL="0">
              <a:buNone/>
            </a:pPr>
            <a:r>
              <a:rPr lang="en-US" sz="1500" dirty="0">
                <a:solidFill>
                  <a:schemeClr val="tx2"/>
                </a:solidFill>
              </a:rPr>
              <a:t>tenants, 2 to 22 CSMs</a:t>
            </a:r>
            <a:endParaRPr lang="en-US" sz="1500" dirty="0"/>
          </a:p>
        </p:txBody>
      </p:sp>
      <p:graphicFrame>
        <p:nvGraphicFramePr>
          <p:cNvPr id="9" name="driver-chart" descr=""/>
          <p:cNvGraphicFramePr/>
          <p:nvPr/>
        </p:nvGraphicFramePr>
        <p:xfrm>
          <a:off x="4114800" y="1325880"/>
          <a:ext cx="7525512" cy="3749040"/>
        </p:xfrm>
        <a:graphic xmlns:a="http://schemas.openxmlformats.org/drawingml/2006/main">
          <a:graphicData uri="http://schemas.openxmlformats.org/drawingml/2006/chart">
            <c:chart xmlns:c="http://schemas.openxmlformats.org/drawingml/2006/chart" r:id="rId1"/>
          </a:graphicData>
        </a:graphic>
      </p:graphicFrame>
      <p:sp>
        <p:nvSpPr>
          <p:cNvPr id="10" name="text-93"/>
          <p:cNvSpPr txBox="1"/>
          <p:nvPr/>
        </p:nvSpPr>
        <p:spPr>
          <a:xfrm>
            <a:off x="548640" y="5303520"/>
            <a:ext cx="11094415" cy="685800"/>
          </a:xfrm>
          <a:prstGeom prst="rect">
            <a:avLst/>
          </a:prstGeom>
          <a:noFill/>
          <a:ln/>
        </p:spPr>
        <p:txBody>
          <a:bodyPr wrap="square" lIns="0" tIns="0" rIns="0" bIns="0" rtlCol="0" anchor="t"/>
          <a:lstStyle/>
          <a:p>
            <a:pPr indent="0" marL="0">
              <a:buNone/>
            </a:pPr>
            <a:r>
              <a:rPr lang="en-US" sz="1400" b="1" dirty="0">
                <a:solidFill>
                  <a:schemeClr val="tx1"/>
                </a:solidFill>
              </a:rPr>
              <a:t>Mess planted on purpose  </a:t>
            </a:r>
            <a:pPr indent="0" marL="0">
              <a:buNone/>
            </a:pPr>
            <a:r>
              <a:rPr lang="en-US" sz="1400" dirty="0">
                <a:solidFill>
                  <a:schemeClr val="tx2"/>
                </a:solidFill>
              </a:rPr>
              <a:t>2.5% duplicates · ~6% late by 1–10 days · out-of-order delivery · local timestamps without a timezone · ~1% unmatched records · 5% CRM/billing conflicts · 10% sparse accounts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Results on the held-out last six months</a:t>
            </a:r>
            <a:endParaRPr lang="en-US" sz="3400" dirty="0"/>
          </a:p>
        </p:txBody>
      </p:sp>
      <p:graphicFrame>
        <p:nvGraphicFramePr>
          <p:cNvPr id="7" name="results-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5394960"/>
                <a:gridCol w="1371600"/>
                <a:gridCol w="3044952"/>
                <a:gridCol w="1280160"/>
              </a:tblGrid>
              <a:tr h="475488">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Criterion</a:t>
                      </a:r>
                      <a:endParaRPr lang="en-US" sz="12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Target</a:t>
                      </a:r>
                      <a:endParaRPr lang="en-US" sz="12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indent="0" marL="0">
                        <a:buNone/>
                      </a:pPr>
                      <a:endParaRPr lang="en-US" sz="12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r>
              <a:tr h="47548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Churn concentrated in "Act this week" vs. all accounts</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5.5×</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Met</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2"/>
                    </a:solidFill>
                  </a:tcPr>
                </a:tc>
              </a:tr>
              <a:tr h="47548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Risk percentages honest (largest calibration gap)</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≤10 pts</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6.4 pts</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Met</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2"/>
                    </a:solidFill>
                  </a:tcPr>
                </a:tc>
              </a:tr>
              <a:tr h="47548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Silent churners flagged 30+ days ahead</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≥70%</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74%</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Met</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2"/>
                    </a:solidFill>
                  </a:tcPr>
                </a:tc>
              </a:tr>
              <a:tr h="47548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Nightly run time, ~5,000 accounts</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&lt;30 min</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~21 s, 7 of 7 nights</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Met</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2"/>
                    </a:solidFill>
                  </a:tcPr>
                </a:tc>
              </a:tr>
              <a:tr h="47548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Alerts per CSM per week</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0.95</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Met</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2"/>
                    </a:solidFill>
                  </a:tcPr>
                </a:tc>
              </a:tr>
              <a:tr h="47548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Churners flagged 60+ days before renewal</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≥70%</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26%</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Missed</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3"/>
                    </a:solidFill>
                  </a:tcPr>
                </a:tc>
              </a:tr>
              <a:tr h="47548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Planted drivers among the top 10 signals</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≥5 of 6</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4 of 6</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Missed</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3"/>
                    </a:solidFill>
                  </a:tcPr>
                </a:tc>
              </a:tr>
              <a:tr h="47548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Beats logistic baseline on hit rate and lead time</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both</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83% vs 82%; 40.5 vs 42 days</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Partly</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4"/>
                    </a:solidFill>
                  </a:tcPr>
                </a:tc>
              </a:tr>
            </a:tbl>
          </a:graphicData>
        </a:graphic>
      </p:graphicFrame>
      <p:sp>
        <p:nvSpPr>
          <p:cNvPr id="4" name="text-94"/>
          <p:cNvSpPr txBox="1"/>
          <p:nvPr/>
        </p:nvSpPr>
        <p:spPr>
          <a:xfrm>
            <a:off x="548640" y="5760720"/>
            <a:ext cx="11094415" cy="365760"/>
          </a:xfrm>
          <a:prstGeom prst="rect">
            <a:avLst/>
          </a:prstGeom>
          <a:noFill/>
          <a:ln/>
        </p:spPr>
        <p:txBody>
          <a:bodyPr wrap="square" lIns="0" tIns="0" rIns="0" bIns="0" rtlCol="0" anchor="ctr"/>
          <a:lstStyle/>
          <a:p>
            <a:pPr indent="0" marL="0">
              <a:buNone/>
            </a:pPr>
            <a:r>
              <a:rPr lang="en-US" sz="1100" dirty="0">
                <a:solidFill>
                  <a:schemeClr val="tx2"/>
                </a:solidFill>
              </a:rPr>
              <a:t>Weekly worklists replayed over a later period than training. Pooled LightGBM, promoted over the baseline by the gate. Source: reports/eval_2026-10-26.json</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What the misses mean</a:t>
            </a:r>
            <a:endParaRPr lang="en-US" sz="3400" dirty="0"/>
          </a:p>
        </p:txBody>
      </p:sp>
      <p:sp>
        <p:nvSpPr>
          <p:cNvPr id="3" name="card-95"/>
          <p:cNvSpPr/>
          <p:nvPr/>
        </p:nvSpPr>
        <p:spPr>
          <a:xfrm>
            <a:off x="548640" y="1371600"/>
            <a:ext cx="4206240" cy="4480560"/>
          </a:xfrm>
          <a:prstGeom prst="roundRect">
            <a:avLst>
              <a:gd name="adj" fmla="val 1739"/>
            </a:avLst>
          </a:prstGeom>
          <a:solidFill>
            <a:schemeClr val="tx1"/>
          </a:solidFill>
          <a:ln w="12700">
            <a:solidFill>
              <a:schemeClr val="tx1"/>
            </a:solidFill>
            <a:prstDash val="solid"/>
          </a:ln>
        </p:spPr>
      </p:sp>
      <p:sp>
        <p:nvSpPr>
          <p:cNvPr id="4" name="text-96"/>
          <p:cNvSpPr txBox="1"/>
          <p:nvPr/>
        </p:nvSpPr>
        <p:spPr>
          <a:xfrm>
            <a:off x="914400" y="1737360"/>
            <a:ext cx="3566160" cy="1371600"/>
          </a:xfrm>
          <a:prstGeom prst="rect">
            <a:avLst/>
          </a:prstGeom>
          <a:noFill/>
          <a:ln/>
        </p:spPr>
        <p:txBody>
          <a:bodyPr wrap="square" lIns="0" tIns="0" rIns="0" bIns="0" rtlCol="0" anchor="ctr"/>
          <a:lstStyle/>
          <a:p>
            <a:pPr indent="0" marL="0">
              <a:buNone/>
            </a:pPr>
            <a:r>
              <a:rPr lang="en-US" sz="7200" b="1" dirty="0">
                <a:solidFill>
                  <a:schemeClr val="accent1"/>
                </a:solidFill>
                <a:latin typeface="Cambria" pitchFamily="34" charset="0"/>
                <a:ea typeface="Cambria" pitchFamily="34" charset="-122"/>
                <a:cs typeface="Cambria" pitchFamily="34" charset="-120"/>
              </a:rPr>
              <a:t>26%</a:t>
            </a:r>
            <a:endParaRPr lang="en-US" sz="7200" dirty="0"/>
          </a:p>
        </p:txBody>
      </p:sp>
      <p:sp>
        <p:nvSpPr>
          <p:cNvPr id="5" name="text-97"/>
          <p:cNvSpPr txBox="1"/>
          <p:nvPr/>
        </p:nvSpPr>
        <p:spPr>
          <a:xfrm>
            <a:off x="914400" y="3200400"/>
            <a:ext cx="3474720" cy="1005840"/>
          </a:xfrm>
          <a:prstGeom prst="rect">
            <a:avLst/>
          </a:prstGeom>
          <a:noFill/>
          <a:ln/>
        </p:spPr>
        <p:txBody>
          <a:bodyPr wrap="square" lIns="0" tIns="0" rIns="0" bIns="0" rtlCol="0" anchor="t"/>
          <a:lstStyle/>
          <a:p>
            <a:pPr indent="0" marL="0">
              <a:buNone/>
            </a:pPr>
            <a:r>
              <a:rPr lang="en-US" sz="1700" dirty="0">
                <a:solidFill>
                  <a:schemeClr val="bg1"/>
                </a:solidFill>
              </a:rPr>
              <a:t>of churners reached the top of a CSM's list 60+ days before renewal. Target: 70%.</a:t>
            </a:r>
            <a:endParaRPr lang="en-US" sz="1700" dirty="0"/>
          </a:p>
        </p:txBody>
      </p:sp>
      <p:sp>
        <p:nvSpPr>
          <p:cNvPr id="6" name="text-98"/>
          <p:cNvSpPr txBox="1"/>
          <p:nvPr/>
        </p:nvSpPr>
        <p:spPr>
          <a:xfrm>
            <a:off x="914400" y="4480560"/>
            <a:ext cx="3474720" cy="822960"/>
          </a:xfrm>
          <a:prstGeom prst="rect">
            <a:avLst/>
          </a:prstGeom>
          <a:noFill/>
          <a:ln/>
        </p:spPr>
        <p:txBody>
          <a:bodyPr wrap="square" lIns="0" tIns="0" rIns="0" bIns="0" rtlCol="0" anchor="t"/>
          <a:lstStyle/>
          <a:p>
            <a:pPr indent="0" marL="0">
              <a:buNone/>
            </a:pPr>
            <a:r>
              <a:rPr lang="en-US" sz="1500" dirty="0">
                <a:solidFill>
                  <a:schemeClr val="accent6"/>
                </a:solidFill>
              </a:rPr>
              <a:t>83% reached it at some point. Median lead time: 40 days.</a:t>
            </a:r>
            <a:endParaRPr lang="en-US" sz="1500" dirty="0"/>
          </a:p>
        </p:txBody>
      </p:sp>
      <p:sp>
        <p:nvSpPr>
          <p:cNvPr id="7" name="text-99"/>
          <p:cNvSpPr txBox="1"/>
          <p:nvPr/>
        </p:nvSpPr>
        <p:spPr>
          <a:xfrm>
            <a:off x="5212080" y="1371600"/>
            <a:ext cx="6430975" cy="320040"/>
          </a:xfrm>
          <a:prstGeom prst="rect">
            <a:avLst/>
          </a:prstGeom>
          <a:noFill/>
          <a:ln/>
        </p:spPr>
        <p:txBody>
          <a:bodyPr wrap="square" lIns="0" tIns="0" rIns="0" bIns="0" rtlCol="0" anchor="ctr"/>
          <a:lstStyle/>
          <a:p>
            <a:pPr indent="0" marL="0">
              <a:buNone/>
            </a:pPr>
            <a:r>
              <a:rPr lang="en-US" sz="1200" b="1" spc="100" kern="0" dirty="0">
                <a:solidFill>
                  <a:schemeClr val="tx2"/>
                </a:solidFill>
              </a:rPr>
              <a:t>WHY</a:t>
            </a:r>
            <a:endParaRPr lang="en-US" sz="1200" dirty="0"/>
          </a:p>
        </p:txBody>
      </p:sp>
      <p:sp>
        <p:nvSpPr>
          <p:cNvPr id="8" name="text-100"/>
          <p:cNvSpPr txBox="1"/>
          <p:nvPr/>
        </p:nvSpPr>
        <p:spPr>
          <a:xfrm>
            <a:off x="5212080" y="1737360"/>
            <a:ext cx="6430975" cy="219456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The generator starts each driver 55–160 days before renewal. At 60 days out, many haven't started yet.</a:t>
            </a:r>
            <a:endParaRPr lang="en-US" sz="1500" dirty="0"/>
          </a:p>
          <a:p>
            <a:pPr marL="203200" indent="-203200">
              <a:spcAft>
                <a:spcPts val="800"/>
              </a:spcAft>
              <a:buSzPct val="100000"/>
              <a:buChar char="•"/>
            </a:pPr>
            <a:r>
              <a:rPr lang="en-US" sz="1500" dirty="0">
                <a:solidFill>
                  <a:schemeClr val="tx1"/>
                </a:solidFill>
              </a:rPr>
              <a:t>Payment failures and champion departure hit ~4% of renewals each: strong effects, too rare to rank high on average.</a:t>
            </a:r>
            <a:endParaRPr lang="en-US" sz="1500" dirty="0"/>
          </a:p>
          <a:p>
            <a:pPr marL="203200" indent="-203200">
              <a:spcAft>
                <a:spcPts val="800"/>
              </a:spcAft>
              <a:buSzPct val="100000"/>
              <a:buChar char="•"/>
            </a:pPr>
            <a:r>
              <a:rPr lang="en-US" sz="1500" dirty="0">
                <a:solidFill>
                  <a:schemeClr val="tx1"/>
                </a:solidFill>
              </a:rPr>
              <a:t>LightGBM only marginally beats logistic regression on this data.</a:t>
            </a:r>
            <a:endParaRPr lang="en-US" sz="1500" dirty="0"/>
          </a:p>
        </p:txBody>
      </p:sp>
      <p:sp>
        <p:nvSpPr>
          <p:cNvPr id="9" name="text-101"/>
          <p:cNvSpPr txBox="1"/>
          <p:nvPr/>
        </p:nvSpPr>
        <p:spPr>
          <a:xfrm>
            <a:off x="5212080" y="3611880"/>
            <a:ext cx="6430975" cy="320040"/>
          </a:xfrm>
          <a:prstGeom prst="rect">
            <a:avLst/>
          </a:prstGeom>
          <a:noFill/>
          <a:ln/>
        </p:spPr>
        <p:txBody>
          <a:bodyPr wrap="square" lIns="0" tIns="0" rIns="0" bIns="0" rtlCol="0" anchor="ctr"/>
          <a:lstStyle/>
          <a:p>
            <a:pPr indent="0" marL="0">
              <a:buNone/>
            </a:pPr>
            <a:r>
              <a:rPr lang="en-US" sz="1200" b="1" spc="100" kern="0" dirty="0">
                <a:solidFill>
                  <a:schemeClr val="tx2"/>
                </a:solidFill>
              </a:rPr>
              <a:t>WHAT I DID AND WOULD DO</a:t>
            </a:r>
            <a:endParaRPr lang="en-US" sz="1200" dirty="0"/>
          </a:p>
        </p:txBody>
      </p:sp>
      <p:sp>
        <p:nvSpPr>
          <p:cNvPr id="10" name="text-102"/>
          <p:cNvSpPr txBox="1"/>
          <p:nvPr/>
        </p:nvSpPr>
        <p:spPr>
          <a:xfrm>
            <a:off x="5212080" y="3977640"/>
            <a:ext cx="6430975" cy="146304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Froze the generator before evaluating, so the misses are reported, not tuned away.</a:t>
            </a:r>
            <a:endParaRPr lang="en-US" sz="1500" dirty="0"/>
          </a:p>
          <a:p>
            <a:pPr marL="203200" indent="-203200">
              <a:spcAft>
                <a:spcPts val="800"/>
              </a:spcAft>
              <a:buSzPct val="100000"/>
              <a:buChar char="•"/>
            </a:pPr>
            <a:r>
              <a:rPr lang="en-US" sz="1500" dirty="0">
                <a:solidFill>
                  <a:schemeClr val="tx1"/>
                </a:solidFill>
              </a:rPr>
              <a:t>Next: a 180-day horizon with lead-time-weighted training, and denser usage data.</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The unattended nightly agent</a:t>
            </a:r>
            <a:endParaRPr lang="en-US" sz="3400" dirty="0"/>
          </a:p>
        </p:txBody>
      </p:sp>
      <p:sp>
        <p:nvSpPr>
          <p:cNvPr id="3" name="card-103"/>
          <p:cNvSpPr/>
          <p:nvPr/>
        </p:nvSpPr>
        <p:spPr>
          <a:xfrm>
            <a:off x="548640" y="1371600"/>
            <a:ext cx="1290790" cy="685800"/>
          </a:xfrm>
          <a:prstGeom prst="roundRect">
            <a:avLst>
              <a:gd name="adj" fmla="val 10667"/>
            </a:avLst>
          </a:prstGeom>
          <a:solidFill>
            <a:schemeClr val="bg2"/>
          </a:solidFill>
          <a:ln w="12700">
            <a:solidFill>
              <a:schemeClr val="bg2"/>
            </a:solidFill>
            <a:prstDash val="solid"/>
          </a:ln>
        </p:spPr>
      </p:sp>
      <p:sp>
        <p:nvSpPr>
          <p:cNvPr id="4" name="text-104"/>
          <p:cNvSpPr txBox="1"/>
          <p:nvPr/>
        </p:nvSpPr>
        <p:spPr>
          <a:xfrm>
            <a:off x="548640" y="1371600"/>
            <a:ext cx="1290790" cy="685800"/>
          </a:xfrm>
          <a:prstGeom prst="rect">
            <a:avLst/>
          </a:prstGeom>
          <a:noFill/>
          <a:ln/>
        </p:spPr>
        <p:txBody>
          <a:bodyPr wrap="square" lIns="0" tIns="0" rIns="0" bIns="0" rtlCol="0" anchor="ctr"/>
          <a:lstStyle/>
          <a:p>
            <a:pPr algn="ctr" indent="0" marL="0">
              <a:buNone/>
            </a:pPr>
            <a:r>
              <a:rPr lang="en-US" sz="1400" b="1" dirty="0">
                <a:solidFill>
                  <a:schemeClr val="tx1"/>
                </a:solidFill>
              </a:rPr>
              <a:t>Advance clock</a:t>
            </a:r>
            <a:endParaRPr lang="en-US" sz="1400" dirty="0"/>
          </a:p>
        </p:txBody>
      </p:sp>
      <p:sp>
        <p:nvSpPr>
          <p:cNvPr id="5" name="card-105"/>
          <p:cNvSpPr/>
          <p:nvPr/>
        </p:nvSpPr>
        <p:spPr>
          <a:xfrm>
            <a:off x="1949158" y="1371600"/>
            <a:ext cx="1290790" cy="685800"/>
          </a:xfrm>
          <a:prstGeom prst="roundRect">
            <a:avLst>
              <a:gd name="adj" fmla="val 10667"/>
            </a:avLst>
          </a:prstGeom>
          <a:solidFill>
            <a:schemeClr val="bg2"/>
          </a:solidFill>
          <a:ln w="12700">
            <a:solidFill>
              <a:schemeClr val="bg2"/>
            </a:solidFill>
            <a:prstDash val="solid"/>
          </a:ln>
        </p:spPr>
      </p:sp>
      <p:sp>
        <p:nvSpPr>
          <p:cNvPr id="6" name="text-106"/>
          <p:cNvSpPr txBox="1"/>
          <p:nvPr/>
        </p:nvSpPr>
        <p:spPr>
          <a:xfrm>
            <a:off x="1949158" y="1371600"/>
            <a:ext cx="1290790" cy="685800"/>
          </a:xfrm>
          <a:prstGeom prst="rect">
            <a:avLst/>
          </a:prstGeom>
          <a:noFill/>
          <a:ln/>
        </p:spPr>
        <p:txBody>
          <a:bodyPr wrap="square" lIns="0" tIns="0" rIns="0" bIns="0" rtlCol="0" anchor="ctr"/>
          <a:lstStyle/>
          <a:p>
            <a:pPr algn="ctr" indent="0" marL="0">
              <a:buNone/>
            </a:pPr>
            <a:r>
              <a:rPr lang="en-US" sz="1400" b="1" dirty="0">
                <a:solidFill>
                  <a:schemeClr val="tx1"/>
                </a:solidFill>
              </a:rPr>
              <a:t>Deliver feed</a:t>
            </a:r>
            <a:endParaRPr lang="en-US" sz="1400" dirty="0"/>
          </a:p>
        </p:txBody>
      </p:sp>
      <p:sp>
        <p:nvSpPr>
          <p:cNvPr id="7" name="card-107"/>
          <p:cNvSpPr/>
          <p:nvPr/>
        </p:nvSpPr>
        <p:spPr>
          <a:xfrm>
            <a:off x="3349676" y="1371600"/>
            <a:ext cx="1290790" cy="685800"/>
          </a:xfrm>
          <a:prstGeom prst="roundRect">
            <a:avLst>
              <a:gd name="adj" fmla="val 10667"/>
            </a:avLst>
          </a:prstGeom>
          <a:solidFill>
            <a:schemeClr val="bg2"/>
          </a:solidFill>
          <a:ln w="12700">
            <a:solidFill>
              <a:schemeClr val="bg2"/>
            </a:solidFill>
            <a:prstDash val="solid"/>
          </a:ln>
        </p:spPr>
      </p:sp>
      <p:sp>
        <p:nvSpPr>
          <p:cNvPr id="8" name="text-108"/>
          <p:cNvSpPr txBox="1"/>
          <p:nvPr/>
        </p:nvSpPr>
        <p:spPr>
          <a:xfrm>
            <a:off x="3349676" y="1371600"/>
            <a:ext cx="1290790" cy="685800"/>
          </a:xfrm>
          <a:prstGeom prst="rect">
            <a:avLst/>
          </a:prstGeom>
          <a:noFill/>
          <a:ln/>
        </p:spPr>
        <p:txBody>
          <a:bodyPr wrap="square" lIns="0" tIns="0" rIns="0" bIns="0" rtlCol="0" anchor="ctr"/>
          <a:lstStyle/>
          <a:p>
            <a:pPr algn="ctr" indent="0" marL="0">
              <a:buNone/>
            </a:pPr>
            <a:r>
              <a:rPr lang="en-US" sz="1400" b="1" dirty="0">
                <a:solidFill>
                  <a:schemeClr val="tx1"/>
                </a:solidFill>
              </a:rPr>
              <a:t>Ingest</a:t>
            </a:r>
            <a:endParaRPr lang="en-US" sz="1400" dirty="0"/>
          </a:p>
        </p:txBody>
      </p:sp>
      <p:sp>
        <p:nvSpPr>
          <p:cNvPr id="9" name="card-109"/>
          <p:cNvSpPr/>
          <p:nvPr/>
        </p:nvSpPr>
        <p:spPr>
          <a:xfrm>
            <a:off x="4750194" y="1371600"/>
            <a:ext cx="1290790" cy="685800"/>
          </a:xfrm>
          <a:prstGeom prst="roundRect">
            <a:avLst>
              <a:gd name="adj" fmla="val 10667"/>
            </a:avLst>
          </a:prstGeom>
          <a:solidFill>
            <a:schemeClr val="bg2"/>
          </a:solidFill>
          <a:ln w="12700">
            <a:solidFill>
              <a:schemeClr val="bg2"/>
            </a:solidFill>
            <a:prstDash val="solid"/>
          </a:ln>
        </p:spPr>
      </p:sp>
      <p:sp>
        <p:nvSpPr>
          <p:cNvPr id="10" name="text-110"/>
          <p:cNvSpPr txBox="1"/>
          <p:nvPr/>
        </p:nvSpPr>
        <p:spPr>
          <a:xfrm>
            <a:off x="4750194" y="1371600"/>
            <a:ext cx="1290790" cy="685800"/>
          </a:xfrm>
          <a:prstGeom prst="rect">
            <a:avLst/>
          </a:prstGeom>
          <a:noFill/>
          <a:ln/>
        </p:spPr>
        <p:txBody>
          <a:bodyPr wrap="square" lIns="0" tIns="0" rIns="0" bIns="0" rtlCol="0" anchor="ctr"/>
          <a:lstStyle/>
          <a:p>
            <a:pPr algn="ctr" indent="0" marL="0">
              <a:buNone/>
            </a:pPr>
            <a:r>
              <a:rPr lang="en-US" sz="1400" b="1" dirty="0">
                <a:solidFill>
                  <a:schemeClr val="tx1"/>
                </a:solidFill>
              </a:rPr>
              <a:t>Score</a:t>
            </a:r>
            <a:endParaRPr lang="en-US" sz="1400" dirty="0"/>
          </a:p>
        </p:txBody>
      </p:sp>
      <p:sp>
        <p:nvSpPr>
          <p:cNvPr id="11" name="card-111"/>
          <p:cNvSpPr/>
          <p:nvPr/>
        </p:nvSpPr>
        <p:spPr>
          <a:xfrm>
            <a:off x="6150712" y="1371600"/>
            <a:ext cx="1290790" cy="685800"/>
          </a:xfrm>
          <a:prstGeom prst="roundRect">
            <a:avLst>
              <a:gd name="adj" fmla="val 10667"/>
            </a:avLst>
          </a:prstGeom>
          <a:solidFill>
            <a:schemeClr val="bg2"/>
          </a:solidFill>
          <a:ln w="12700">
            <a:solidFill>
              <a:schemeClr val="bg2"/>
            </a:solidFill>
            <a:prstDash val="solid"/>
          </a:ln>
        </p:spPr>
      </p:sp>
      <p:sp>
        <p:nvSpPr>
          <p:cNvPr id="12" name="text-112"/>
          <p:cNvSpPr txBox="1"/>
          <p:nvPr/>
        </p:nvSpPr>
        <p:spPr>
          <a:xfrm>
            <a:off x="6150712" y="1371600"/>
            <a:ext cx="1290790" cy="685800"/>
          </a:xfrm>
          <a:prstGeom prst="rect">
            <a:avLst/>
          </a:prstGeom>
          <a:noFill/>
          <a:ln/>
        </p:spPr>
        <p:txBody>
          <a:bodyPr wrap="square" lIns="0" tIns="0" rIns="0" bIns="0" rtlCol="0" anchor="ctr"/>
          <a:lstStyle/>
          <a:p>
            <a:pPr algn="ctr" indent="0" marL="0">
              <a:buNone/>
            </a:pPr>
            <a:r>
              <a:rPr lang="en-US" sz="1400" b="1" dirty="0">
                <a:solidFill>
                  <a:schemeClr val="tx1"/>
                </a:solidFill>
              </a:rPr>
              <a:t>Compare</a:t>
            </a:r>
            <a:endParaRPr lang="en-US" sz="1400" dirty="0"/>
          </a:p>
        </p:txBody>
      </p:sp>
      <p:sp>
        <p:nvSpPr>
          <p:cNvPr id="13" name="card-113"/>
          <p:cNvSpPr/>
          <p:nvPr/>
        </p:nvSpPr>
        <p:spPr>
          <a:xfrm>
            <a:off x="7551230" y="1371600"/>
            <a:ext cx="1290790" cy="685800"/>
          </a:xfrm>
          <a:prstGeom prst="roundRect">
            <a:avLst>
              <a:gd name="adj" fmla="val 10667"/>
            </a:avLst>
          </a:prstGeom>
          <a:solidFill>
            <a:schemeClr val="accent1"/>
          </a:solidFill>
          <a:ln w="12700">
            <a:solidFill>
              <a:schemeClr val="accent1"/>
            </a:solidFill>
            <a:prstDash val="solid"/>
          </a:ln>
        </p:spPr>
      </p:sp>
      <p:sp>
        <p:nvSpPr>
          <p:cNvPr id="14" name="text-114"/>
          <p:cNvSpPr txBox="1"/>
          <p:nvPr/>
        </p:nvSpPr>
        <p:spPr>
          <a:xfrm>
            <a:off x="7551230" y="1371600"/>
            <a:ext cx="1290790" cy="685800"/>
          </a:xfrm>
          <a:prstGeom prst="rect">
            <a:avLst/>
          </a:prstGeom>
          <a:noFill/>
          <a:ln/>
        </p:spPr>
        <p:txBody>
          <a:bodyPr wrap="square" lIns="0" tIns="0" rIns="0" bIns="0" rtlCol="0" anchor="ctr"/>
          <a:lstStyle/>
          <a:p>
            <a:pPr algn="ctr" indent="0" marL="0">
              <a:buNone/>
            </a:pPr>
            <a:r>
              <a:rPr lang="en-US" sz="1400" b="1" dirty="0">
                <a:solidFill>
                  <a:schemeClr val="bg1"/>
                </a:solidFill>
              </a:rPr>
              <a:t>Alert</a:t>
            </a:r>
            <a:endParaRPr lang="en-US" sz="1400" dirty="0"/>
          </a:p>
        </p:txBody>
      </p:sp>
      <p:sp>
        <p:nvSpPr>
          <p:cNvPr id="15" name="card-115"/>
          <p:cNvSpPr/>
          <p:nvPr/>
        </p:nvSpPr>
        <p:spPr>
          <a:xfrm>
            <a:off x="8951747" y="1371600"/>
            <a:ext cx="1290790" cy="685800"/>
          </a:xfrm>
          <a:prstGeom prst="roundRect">
            <a:avLst>
              <a:gd name="adj" fmla="val 10667"/>
            </a:avLst>
          </a:prstGeom>
          <a:solidFill>
            <a:schemeClr val="accent1"/>
          </a:solidFill>
          <a:ln w="12700">
            <a:solidFill>
              <a:schemeClr val="accent1"/>
            </a:solidFill>
            <a:prstDash val="solid"/>
          </a:ln>
        </p:spPr>
      </p:sp>
      <p:sp>
        <p:nvSpPr>
          <p:cNvPr id="16" name="text-116"/>
          <p:cNvSpPr txBox="1"/>
          <p:nvPr/>
        </p:nvSpPr>
        <p:spPr>
          <a:xfrm>
            <a:off x="8951747" y="1371600"/>
            <a:ext cx="1290790" cy="685800"/>
          </a:xfrm>
          <a:prstGeom prst="rect">
            <a:avLst/>
          </a:prstGeom>
          <a:noFill/>
          <a:ln/>
        </p:spPr>
        <p:txBody>
          <a:bodyPr wrap="square" lIns="0" tIns="0" rIns="0" bIns="0" rtlCol="0" anchor="ctr"/>
          <a:lstStyle/>
          <a:p>
            <a:pPr algn="ctr" indent="0" marL="0">
              <a:buNone/>
            </a:pPr>
            <a:r>
              <a:rPr lang="en-US" sz="1400" b="1" dirty="0">
                <a:solidFill>
                  <a:schemeClr val="bg1"/>
                </a:solidFill>
              </a:rPr>
              <a:t>Evidence</a:t>
            </a:r>
            <a:endParaRPr lang="en-US" sz="1400" dirty="0"/>
          </a:p>
        </p:txBody>
      </p:sp>
      <p:sp>
        <p:nvSpPr>
          <p:cNvPr id="17" name="card-117"/>
          <p:cNvSpPr/>
          <p:nvPr/>
        </p:nvSpPr>
        <p:spPr>
          <a:xfrm>
            <a:off x="10352265" y="1371600"/>
            <a:ext cx="1290790" cy="685800"/>
          </a:xfrm>
          <a:prstGeom prst="roundRect">
            <a:avLst>
              <a:gd name="adj" fmla="val 10667"/>
            </a:avLst>
          </a:prstGeom>
          <a:solidFill>
            <a:schemeClr val="accent1"/>
          </a:solidFill>
          <a:ln w="12700">
            <a:solidFill>
              <a:schemeClr val="accent1"/>
            </a:solidFill>
            <a:prstDash val="solid"/>
          </a:ln>
        </p:spPr>
      </p:sp>
      <p:sp>
        <p:nvSpPr>
          <p:cNvPr id="18" name="text-118"/>
          <p:cNvSpPr txBox="1"/>
          <p:nvPr/>
        </p:nvSpPr>
        <p:spPr>
          <a:xfrm>
            <a:off x="10352265" y="1371600"/>
            <a:ext cx="1290790" cy="685800"/>
          </a:xfrm>
          <a:prstGeom prst="rect">
            <a:avLst/>
          </a:prstGeom>
          <a:noFill/>
          <a:ln/>
        </p:spPr>
        <p:txBody>
          <a:bodyPr wrap="square" lIns="0" tIns="0" rIns="0" bIns="0" rtlCol="0" anchor="ctr"/>
          <a:lstStyle/>
          <a:p>
            <a:pPr algn="ctr" indent="0" marL="0">
              <a:buNone/>
            </a:pPr>
            <a:r>
              <a:rPr lang="en-US" sz="1400" b="1" dirty="0">
                <a:solidFill>
                  <a:schemeClr val="bg1"/>
                </a:solidFill>
              </a:rPr>
              <a:t>Draft</a:t>
            </a:r>
            <a:endParaRPr lang="en-US" sz="1400" dirty="0"/>
          </a:p>
        </p:txBody>
      </p:sp>
      <p:sp>
        <p:nvSpPr>
          <p:cNvPr id="19" name="text-119"/>
          <p:cNvSpPr txBox="1"/>
          <p:nvPr/>
        </p:nvSpPr>
        <p:spPr>
          <a:xfrm>
            <a:off x="548640" y="2514600"/>
            <a:ext cx="310896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7 of 7</a:t>
            </a:r>
            <a:endParaRPr lang="en-US" sz="3600" dirty="0"/>
          </a:p>
        </p:txBody>
      </p:sp>
      <p:sp>
        <p:nvSpPr>
          <p:cNvPr id="20" name="text-120"/>
          <p:cNvSpPr txBox="1"/>
          <p:nvPr/>
        </p:nvSpPr>
        <p:spPr>
          <a:xfrm>
            <a:off x="548640" y="3154680"/>
            <a:ext cx="3291840" cy="320040"/>
          </a:xfrm>
          <a:prstGeom prst="rect">
            <a:avLst/>
          </a:prstGeom>
          <a:noFill/>
          <a:ln/>
        </p:spPr>
        <p:txBody>
          <a:bodyPr wrap="square" lIns="0" tIns="0" rIns="0" bIns="0" rtlCol="0" anchor="ctr"/>
          <a:lstStyle/>
          <a:p>
            <a:pPr indent="0" marL="0">
              <a:buNone/>
            </a:pPr>
            <a:r>
              <a:rPr lang="en-US" sz="1400" dirty="0">
                <a:solidFill>
                  <a:schemeClr val="tx2"/>
                </a:solidFill>
              </a:rPr>
              <a:t>simulated nights succeeded</a:t>
            </a:r>
            <a:endParaRPr lang="en-US" sz="1400" dirty="0"/>
          </a:p>
        </p:txBody>
      </p:sp>
      <p:sp>
        <p:nvSpPr>
          <p:cNvPr id="21" name="text-121"/>
          <p:cNvSpPr txBox="1"/>
          <p:nvPr/>
        </p:nvSpPr>
        <p:spPr>
          <a:xfrm>
            <a:off x="548640" y="3657600"/>
            <a:ext cx="310896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~21 s</a:t>
            </a:r>
            <a:endParaRPr lang="en-US" sz="3600" dirty="0"/>
          </a:p>
        </p:txBody>
      </p:sp>
      <p:sp>
        <p:nvSpPr>
          <p:cNvPr id="22" name="text-122"/>
          <p:cNvSpPr txBox="1"/>
          <p:nvPr/>
        </p:nvSpPr>
        <p:spPr>
          <a:xfrm>
            <a:off x="548640" y="4297680"/>
            <a:ext cx="3291840" cy="320040"/>
          </a:xfrm>
          <a:prstGeom prst="rect">
            <a:avLst/>
          </a:prstGeom>
          <a:noFill/>
          <a:ln/>
        </p:spPr>
        <p:txBody>
          <a:bodyPr wrap="square" lIns="0" tIns="0" rIns="0" bIns="0" rtlCol="0" anchor="ctr"/>
          <a:lstStyle/>
          <a:p>
            <a:pPr indent="0" marL="0">
              <a:buNone/>
            </a:pPr>
            <a:r>
              <a:rPr lang="en-US" sz="1400" dirty="0">
                <a:solidFill>
                  <a:schemeClr val="tx2"/>
                </a:solidFill>
              </a:rPr>
              <a:t>per night, ~5,000 accounts</a:t>
            </a:r>
            <a:endParaRPr lang="en-US" sz="1400" dirty="0"/>
          </a:p>
        </p:txBody>
      </p:sp>
      <p:sp>
        <p:nvSpPr>
          <p:cNvPr id="23" name="text-123"/>
          <p:cNvSpPr txBox="1"/>
          <p:nvPr/>
        </p:nvSpPr>
        <p:spPr>
          <a:xfrm>
            <a:off x="548640" y="4800600"/>
            <a:ext cx="310896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0.95</a:t>
            </a:r>
            <a:endParaRPr lang="en-US" sz="3600" dirty="0"/>
          </a:p>
        </p:txBody>
      </p:sp>
      <p:sp>
        <p:nvSpPr>
          <p:cNvPr id="24" name="text-124"/>
          <p:cNvSpPr txBox="1"/>
          <p:nvPr/>
        </p:nvSpPr>
        <p:spPr>
          <a:xfrm>
            <a:off x="548640" y="5440680"/>
            <a:ext cx="3291840" cy="320040"/>
          </a:xfrm>
          <a:prstGeom prst="rect">
            <a:avLst/>
          </a:prstGeom>
          <a:noFill/>
          <a:ln/>
        </p:spPr>
        <p:txBody>
          <a:bodyPr wrap="square" lIns="0" tIns="0" rIns="0" bIns="0" rtlCol="0" anchor="ctr"/>
          <a:lstStyle/>
          <a:p>
            <a:pPr indent="0" marL="0">
              <a:buNone/>
            </a:pPr>
            <a:r>
              <a:rPr lang="en-US" sz="1400" dirty="0">
                <a:solidFill>
                  <a:schemeClr val="tx2"/>
                </a:solidFill>
              </a:rPr>
              <a:t>alerts per CSM per week</a:t>
            </a:r>
            <a:endParaRPr lang="en-US" sz="1400" dirty="0"/>
          </a:p>
        </p:txBody>
      </p:sp>
      <p:sp>
        <p:nvSpPr>
          <p:cNvPr id="25" name="text-125"/>
          <p:cNvSpPr txBox="1"/>
          <p:nvPr/>
        </p:nvSpPr>
        <p:spPr>
          <a:xfrm>
            <a:off x="4389120" y="2514600"/>
            <a:ext cx="7253935" cy="3474720"/>
          </a:xfrm>
          <a:prstGeom prst="rect">
            <a:avLst/>
          </a:prstGeom>
          <a:noFill/>
          <a:ln/>
        </p:spPr>
        <p:txBody>
          <a:bodyPr wrap="square" lIns="0" tIns="0" rIns="0" bIns="0" rtlCol="0" anchor="t"/>
          <a:lstStyle/>
          <a:p>
            <a:pPr marL="203200" indent="-203200">
              <a:spcAft>
                <a:spcPts val="1400"/>
              </a:spcAft>
              <a:buSzPct val="100000"/>
              <a:buChar char="•"/>
            </a:pPr>
            <a:r>
              <a:rPr lang="en-US" sz="1600" dirty="0">
                <a:solidFill>
                  <a:schemeClr val="tx1"/>
                </a:solidFill>
              </a:rPr>
              <a:t>Runs on a schedule with no human trigger. Running the same night twice does nothing.</a:t>
            </a:r>
            <a:endParaRPr lang="en-US" sz="1600" dirty="0"/>
          </a:p>
          <a:p>
            <a:pPr marL="203200" indent="-203200">
              <a:spcAft>
                <a:spcPts val="1400"/>
              </a:spcAft>
              <a:buSzPct val="100000"/>
              <a:buChar char="•"/>
            </a:pPr>
            <a:r>
              <a:rPr lang="en-US" sz="1600" dirty="0">
                <a:solidFill>
                  <a:schemeClr val="tx1"/>
                </a:solidFill>
              </a:rPr>
              <a:t>Catches up at most 3 missed nights, then flags the run as needing attention.</a:t>
            </a:r>
            <a:endParaRPr lang="en-US" sz="1600" dirty="0"/>
          </a:p>
          <a:p>
            <a:pPr marL="203200" indent="-203200">
              <a:spcAft>
                <a:spcPts val="1400"/>
              </a:spcAft>
              <a:buSzPct val="100000"/>
              <a:buChar char="•"/>
            </a:pPr>
            <a:r>
              <a:rPr lang="en-US" sz="1600" dirty="0">
                <a:solidFill>
                  <a:schemeClr val="tx1"/>
                </a:solidFill>
              </a:rPr>
              <a:t>Alerts only on change: entered the top 10, a risk jump, or a severe event near renewal. At most 3 per CSM a night and 10 a week.</a:t>
            </a:r>
            <a:endParaRPr lang="en-US" sz="1600" dirty="0"/>
          </a:p>
          <a:p>
            <a:pPr marL="203200" indent="-203200">
              <a:spcAft>
                <a:spcPts val="1400"/>
              </a:spcAft>
              <a:buSzPct val="100000"/>
              <a:buChar char="•"/>
            </a:pPr>
            <a:r>
              <a:rPr lang="en-US" sz="1600" dirty="0">
                <a:solidFill>
                  <a:schemeClr val="tx1"/>
                </a:solidFill>
              </a:rPr>
              <a:t>Claude sees only an evidence pack of numbered facts. A validator rejects unknown facts, numbers and dates, and the word "risk" in customer emails. Any failure falls back to a labelled template.</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Isolation and traceability</a:t>
            </a:r>
            <a:endParaRPr lang="en-US" sz="3400" dirty="0"/>
          </a:p>
        </p:txBody>
      </p:sp>
      <p:sp>
        <p:nvSpPr>
          <p:cNvPr id="3" name="card-126"/>
          <p:cNvSpPr/>
          <p:nvPr/>
        </p:nvSpPr>
        <p:spPr>
          <a:xfrm>
            <a:off x="548640" y="1371600"/>
            <a:ext cx="5364328" cy="3931920"/>
          </a:xfrm>
          <a:prstGeom prst="roundRect">
            <a:avLst>
              <a:gd name="adj" fmla="val 1860"/>
            </a:avLst>
          </a:prstGeom>
          <a:solidFill>
            <a:schemeClr val="bg2"/>
          </a:solidFill>
          <a:ln w="12700">
            <a:solidFill>
              <a:schemeClr val="bg2"/>
            </a:solidFill>
            <a:prstDash val="solid"/>
          </a:ln>
        </p:spPr>
      </p:sp>
      <p:sp>
        <p:nvSpPr>
          <p:cNvPr id="4" name="dot-127"/>
          <p:cNvSpPr/>
          <p:nvPr/>
        </p:nvSpPr>
        <p:spPr>
          <a:xfrm>
            <a:off x="868680" y="1645920"/>
            <a:ext cx="502920" cy="502920"/>
          </a:xfrm>
          <a:prstGeom prst="ellipse">
            <a:avLst/>
          </a:prstGeom>
          <a:solidFill>
            <a:schemeClr val="accent1"/>
          </a:solidFill>
          <a:ln w="12700">
            <a:solidFill>
              <a:schemeClr val="accent1"/>
            </a:solidFill>
            <a:prstDash val="solid"/>
          </a:ln>
        </p:spPr>
      </p:sp>
      <p:sp>
        <p:nvSpPr>
          <p:cNvPr id="5" name="text-128"/>
          <p:cNvSpPr txBox="1"/>
          <p:nvPr/>
        </p:nvSpPr>
        <p:spPr>
          <a:xfrm>
            <a:off x="868680" y="1645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129"/>
          <p:cNvSpPr txBox="1"/>
          <p:nvPr/>
        </p:nvSpPr>
        <p:spPr>
          <a:xfrm>
            <a:off x="1554480" y="1645920"/>
            <a:ext cx="4084168" cy="502920"/>
          </a:xfrm>
          <a:prstGeom prst="rect">
            <a:avLst/>
          </a:prstGeom>
          <a:noFill/>
          <a:ln/>
        </p:spPr>
        <p:txBody>
          <a:bodyPr wrap="square" lIns="0" tIns="0" rIns="0" bIns="0" rtlCol="0" anchor="ctr"/>
          <a:lstStyle/>
          <a:p>
            <a:pPr indent="0" marL="0">
              <a:buNone/>
            </a:pPr>
            <a:r>
              <a:rPr lang="en-US" sz="2100" b="1" dirty="0">
                <a:solidFill>
                  <a:schemeClr val="tx1"/>
                </a:solidFill>
              </a:rPr>
              <a:t>Tenant isolation</a:t>
            </a:r>
            <a:endParaRPr lang="en-US" sz="2100" dirty="0"/>
          </a:p>
        </p:txBody>
      </p:sp>
      <p:sp>
        <p:nvSpPr>
          <p:cNvPr id="7" name="text-130"/>
          <p:cNvSpPr txBox="1"/>
          <p:nvPr/>
        </p:nvSpPr>
        <p:spPr>
          <a:xfrm>
            <a:off x="868680" y="2423160"/>
            <a:ext cx="4724248" cy="2743200"/>
          </a:xfrm>
          <a:prstGeom prst="rect">
            <a:avLst/>
          </a:prstGeom>
          <a:noFill/>
          <a:ln/>
        </p:spPr>
        <p:txBody>
          <a:bodyPr wrap="square" lIns="0" tIns="0" rIns="0" bIns="0" rtlCol="0" anchor="t"/>
          <a:lstStyle/>
          <a:p>
            <a:pPr marL="203200" indent="-203200">
              <a:spcAft>
                <a:spcPts val="1200"/>
              </a:spcAft>
              <a:buSzPct val="100000"/>
              <a:buChar char="•"/>
            </a:pPr>
            <a:r>
              <a:rPr lang="en-US" sz="1600" dirty="0">
                <a:solidFill>
                  <a:schemeClr val="tx1"/>
                </a:solidFill>
              </a:rPr>
              <a:t>Forced row-level security on every tenant table in Postgres</a:t>
            </a:r>
            <a:endParaRPr lang="en-US" sz="1600" dirty="0"/>
          </a:p>
          <a:p>
            <a:pPr marL="203200" indent="-203200">
              <a:spcAft>
                <a:spcPts val="1200"/>
              </a:spcAft>
              <a:buSzPct val="100000"/>
              <a:buChar char="•"/>
            </a:pPr>
            <a:r>
              <a:rPr lang="en-US" sz="1600" dirty="0">
                <a:solidFill>
                  <a:schemeClr val="tx1"/>
                </a:solidFill>
              </a:rPr>
              <a:t>Web and job roles aren't table owners. No tenant set means zero rows</a:t>
            </a:r>
            <a:endParaRPr lang="en-US" sz="1600" dirty="0"/>
          </a:p>
          <a:p>
            <a:pPr marL="203200" indent="-203200">
              <a:spcAft>
                <a:spcPts val="1200"/>
              </a:spcAft>
              <a:buSzPct val="100000"/>
              <a:buChar char="•"/>
            </a:pPr>
            <a:r>
              <a:rPr lang="en-US" sz="1600" dirty="0">
                <a:solidFill>
                  <a:schemeClr val="tx1"/>
                </a:solidFill>
              </a:rPr>
              <a:t>Another tenant's or CSM's account returns the same 404 as a made-up ID, and writes an audit row</a:t>
            </a:r>
            <a:endParaRPr lang="en-US" sz="1600" dirty="0"/>
          </a:p>
          <a:p>
            <a:pPr marL="203200" indent="-203200">
              <a:spcAft>
                <a:spcPts val="1200"/>
              </a:spcAft>
              <a:buSzPct val="100000"/>
              <a:buChar char="•"/>
            </a:pPr>
            <a:r>
              <a:rPr lang="en-US" sz="1600" dirty="0">
                <a:solidFill>
                  <a:schemeClr val="tx1"/>
                </a:solidFill>
              </a:rPr>
              <a:t>A test fails if any route lacks an access rule</a:t>
            </a:r>
            <a:endParaRPr lang="en-US" sz="1600" dirty="0"/>
          </a:p>
        </p:txBody>
      </p:sp>
      <p:sp>
        <p:nvSpPr>
          <p:cNvPr id="8" name="card-131"/>
          <p:cNvSpPr/>
          <p:nvPr/>
        </p:nvSpPr>
        <p:spPr>
          <a:xfrm>
            <a:off x="6278728" y="1371600"/>
            <a:ext cx="5364328" cy="3931920"/>
          </a:xfrm>
          <a:prstGeom prst="roundRect">
            <a:avLst>
              <a:gd name="adj" fmla="val 1860"/>
            </a:avLst>
          </a:prstGeom>
          <a:solidFill>
            <a:schemeClr val="bg2"/>
          </a:solidFill>
          <a:ln w="12700">
            <a:solidFill>
              <a:schemeClr val="bg2"/>
            </a:solidFill>
            <a:prstDash val="solid"/>
          </a:ln>
        </p:spPr>
      </p:sp>
      <p:sp>
        <p:nvSpPr>
          <p:cNvPr id="9" name="dot-132"/>
          <p:cNvSpPr/>
          <p:nvPr/>
        </p:nvSpPr>
        <p:spPr>
          <a:xfrm>
            <a:off x="6598768" y="1645920"/>
            <a:ext cx="502920" cy="502920"/>
          </a:xfrm>
          <a:prstGeom prst="ellipse">
            <a:avLst/>
          </a:prstGeom>
          <a:solidFill>
            <a:schemeClr val="accent5"/>
          </a:solidFill>
          <a:ln w="12700">
            <a:solidFill>
              <a:schemeClr val="accent5"/>
            </a:solidFill>
            <a:prstDash val="solid"/>
          </a:ln>
        </p:spPr>
      </p:sp>
      <p:sp>
        <p:nvSpPr>
          <p:cNvPr id="10" name="text-133"/>
          <p:cNvSpPr txBox="1"/>
          <p:nvPr/>
        </p:nvSpPr>
        <p:spPr>
          <a:xfrm>
            <a:off x="6598768" y="1645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134"/>
          <p:cNvSpPr txBox="1"/>
          <p:nvPr/>
        </p:nvSpPr>
        <p:spPr>
          <a:xfrm>
            <a:off x="7284568" y="1645920"/>
            <a:ext cx="4084168" cy="502920"/>
          </a:xfrm>
          <a:prstGeom prst="rect">
            <a:avLst/>
          </a:prstGeom>
          <a:noFill/>
          <a:ln/>
        </p:spPr>
        <p:txBody>
          <a:bodyPr wrap="square" lIns="0" tIns="0" rIns="0" bIns="0" rtlCol="0" anchor="ctr"/>
          <a:lstStyle/>
          <a:p>
            <a:pPr indent="0" marL="0">
              <a:buNone/>
            </a:pPr>
            <a:r>
              <a:rPr lang="en-US" sz="2100" b="1" dirty="0">
                <a:solidFill>
                  <a:schemeClr val="tx1"/>
                </a:solidFill>
              </a:rPr>
              <a:t>Every number traceable</a:t>
            </a:r>
            <a:endParaRPr lang="en-US" sz="2100" dirty="0"/>
          </a:p>
        </p:txBody>
      </p:sp>
      <p:sp>
        <p:nvSpPr>
          <p:cNvPr id="12" name="text-135"/>
          <p:cNvSpPr txBox="1"/>
          <p:nvPr/>
        </p:nvSpPr>
        <p:spPr>
          <a:xfrm>
            <a:off x="6598768" y="2423160"/>
            <a:ext cx="4724248" cy="2743200"/>
          </a:xfrm>
          <a:prstGeom prst="rect">
            <a:avLst/>
          </a:prstGeom>
          <a:noFill/>
          <a:ln/>
        </p:spPr>
        <p:txBody>
          <a:bodyPr wrap="square" lIns="0" tIns="0" rIns="0" bIns="0" rtlCol="0" anchor="t"/>
          <a:lstStyle/>
          <a:p>
            <a:pPr marL="203200" indent="-203200">
              <a:spcAft>
                <a:spcPts val="1200"/>
              </a:spcAft>
              <a:buSzPct val="100000"/>
              <a:buChar char="•"/>
            </a:pPr>
            <a:r>
              <a:rPr lang="en-US" sz="1600" dirty="0">
                <a:solidFill>
                  <a:schemeClr val="tx1"/>
                </a:solidFill>
              </a:rPr>
              <a:t>Displayed scores come from immutable rows: run, model version, signal-definition version</a:t>
            </a:r>
            <a:endParaRPr lang="en-US" sz="1600" dirty="0"/>
          </a:p>
          <a:p>
            <a:pPr marL="203200" indent="-203200">
              <a:spcAft>
                <a:spcPts val="1200"/>
              </a:spcAft>
              <a:buSzPct val="100000"/>
              <a:buChar char="•"/>
            </a:pPr>
            <a:r>
              <a:rPr lang="en-US" sz="1600" dirty="0">
                <a:solidFill>
                  <a:schemeClr val="tx1"/>
                </a:solidFill>
              </a:rPr>
              <a:t>Any score can be recomputed exactly from stored inputs</a:t>
            </a:r>
            <a:endParaRPr lang="en-US" sz="1600" dirty="0"/>
          </a:p>
          <a:p>
            <a:pPr marL="203200" indent="-203200">
              <a:spcAft>
                <a:spcPts val="1200"/>
              </a:spcAft>
              <a:buSzPct val="100000"/>
              <a:buChar char="•"/>
            </a:pPr>
            <a:r>
              <a:rPr lang="en-US" sz="1600" dirty="0">
                <a:solidFill>
                  <a:schemeClr val="tx1"/>
                </a:solidFill>
              </a:rPr>
              <a:t>Each reason drills down to its definition, window and source records</a:t>
            </a:r>
            <a:endParaRPr lang="en-US" sz="1600" dirty="0"/>
          </a:p>
          <a:p>
            <a:pPr marL="203200" indent="-203200">
              <a:spcAft>
                <a:spcPts val="1200"/>
              </a:spcAft>
              <a:buSzPct val="100000"/>
              <a:buChar char="•"/>
            </a:pPr>
            <a:r>
              <a:rPr lang="en-US" sz="1600" dirty="0">
                <a:solidFill>
                  <a:schemeClr val="tx1"/>
                </a:solidFill>
              </a:rPr>
              <a:t>The runs page shows what came in, duplicates, quarantined records and alerts raised or suppressed</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Skipped on purpose, and what breaks at 10x</a:t>
            </a:r>
            <a:endParaRPr lang="en-US" sz="3400" dirty="0"/>
          </a:p>
        </p:txBody>
      </p:sp>
      <p:sp>
        <p:nvSpPr>
          <p:cNvPr id="3" name="card-136"/>
          <p:cNvSpPr/>
          <p:nvPr/>
        </p:nvSpPr>
        <p:spPr>
          <a:xfrm>
            <a:off x="548640" y="1371600"/>
            <a:ext cx="4206240" cy="4572000"/>
          </a:xfrm>
          <a:prstGeom prst="roundRect">
            <a:avLst>
              <a:gd name="adj" fmla="val 1739"/>
            </a:avLst>
          </a:prstGeom>
          <a:solidFill>
            <a:schemeClr val="bg2"/>
          </a:solidFill>
          <a:ln w="12700">
            <a:solidFill>
              <a:schemeClr val="bg2"/>
            </a:solidFill>
            <a:prstDash val="solid"/>
          </a:ln>
        </p:spPr>
      </p:sp>
      <p:sp>
        <p:nvSpPr>
          <p:cNvPr id="4" name="text-137"/>
          <p:cNvSpPr txBox="1"/>
          <p:nvPr/>
        </p:nvSpPr>
        <p:spPr>
          <a:xfrm>
            <a:off x="868680" y="1554480"/>
            <a:ext cx="3657600" cy="457200"/>
          </a:xfrm>
          <a:prstGeom prst="rect">
            <a:avLst/>
          </a:prstGeom>
          <a:noFill/>
          <a:ln/>
        </p:spPr>
        <p:txBody>
          <a:bodyPr wrap="square" lIns="0" tIns="0" rIns="0" bIns="0" rtlCol="0" anchor="ctr"/>
          <a:lstStyle/>
          <a:p>
            <a:pPr indent="0" marL="0">
              <a:buNone/>
            </a:pPr>
            <a:r>
              <a:rPr lang="en-US" sz="2100" b="1" dirty="0">
                <a:solidFill>
                  <a:schemeClr val="tx1"/>
                </a:solidFill>
              </a:rPr>
              <a:t>Skipped on purpose</a:t>
            </a:r>
            <a:endParaRPr lang="en-US" sz="2100" dirty="0"/>
          </a:p>
        </p:txBody>
      </p:sp>
      <p:sp>
        <p:nvSpPr>
          <p:cNvPr id="5" name="text-138"/>
          <p:cNvSpPr txBox="1"/>
          <p:nvPr/>
        </p:nvSpPr>
        <p:spPr>
          <a:xfrm>
            <a:off x="868680" y="2194560"/>
            <a:ext cx="3611880" cy="3566160"/>
          </a:xfrm>
          <a:prstGeom prst="rect">
            <a:avLst/>
          </a:prstGeom>
          <a:noFill/>
          <a:ln/>
        </p:spPr>
        <p:txBody>
          <a:bodyPr wrap="square" lIns="0" tIns="0" rIns="0" bIns="0" rtlCol="0" anchor="t"/>
          <a:lstStyle/>
          <a:p>
            <a:pPr marL="203200" indent="-203200">
              <a:spcAft>
                <a:spcPts val="1400"/>
              </a:spcAft>
              <a:buSzPct val="100000"/>
              <a:buChar char="•"/>
            </a:pPr>
            <a:r>
              <a:rPr lang="en-US" sz="1600" dirty="0">
                <a:solidFill>
                  <a:schemeClr val="tx1"/>
                </a:solidFill>
              </a:rPr>
              <a:t>Real connectors (the generator uses the same ingest path)</a:t>
            </a:r>
            <a:endParaRPr lang="en-US" sz="1600" dirty="0"/>
          </a:p>
          <a:p>
            <a:pPr marL="203200" indent="-203200">
              <a:spcAft>
                <a:spcPts val="1400"/>
              </a:spcAft>
              <a:buSzPct val="100000"/>
              <a:buChar char="•"/>
            </a:pPr>
            <a:r>
              <a:rPr lang="en-US" sz="1600" dirty="0">
                <a:solidFill>
                  <a:schemeClr val="tx1"/>
                </a:solidFill>
              </a:rPr>
              <a:t>Sending email, CRM write-back, Slack alerts</a:t>
            </a:r>
            <a:endParaRPr lang="en-US" sz="1600" dirty="0"/>
          </a:p>
          <a:p>
            <a:pPr marL="203200" indent="-203200">
              <a:spcAft>
                <a:spcPts val="1400"/>
              </a:spcAft>
              <a:buSzPct val="100000"/>
              <a:buChar char="•"/>
            </a:pPr>
            <a:r>
              <a:rPr lang="en-US" sz="1600" dirty="0">
                <a:solidFill>
                  <a:schemeClr val="tx1"/>
                </a:solidFill>
              </a:rPr>
              <a:t>SSO, sign-up, mobile layouts</a:t>
            </a:r>
            <a:endParaRPr lang="en-US" sz="1600" dirty="0"/>
          </a:p>
          <a:p>
            <a:pPr marL="203200" indent="-203200">
              <a:spcAft>
                <a:spcPts val="1400"/>
              </a:spcAft>
              <a:buSzPct val="100000"/>
              <a:buChar char="•"/>
            </a:pPr>
            <a:r>
              <a:rPr lang="en-US" sz="1600" dirty="0">
                <a:solidFill>
                  <a:schemeClr val="tx1"/>
                </a:solidFill>
              </a:rPr>
              <a:t>Automated data purging</a:t>
            </a:r>
            <a:endParaRPr lang="en-US" sz="1600" dirty="0"/>
          </a:p>
          <a:p>
            <a:pPr marL="203200" indent="-203200">
              <a:spcAft>
                <a:spcPts val="1400"/>
              </a:spcAft>
              <a:buSzPct val="100000"/>
              <a:buChar char="•"/>
            </a:pPr>
            <a:r>
              <a:rPr lang="en-US" sz="1600" dirty="0">
                <a:solidFill>
                  <a:schemeClr val="tx1"/>
                </a:solidFill>
              </a:rPr>
              <a:t>Survival models</a:t>
            </a:r>
            <a:endParaRPr lang="en-US" sz="1600" dirty="0"/>
          </a:p>
        </p:txBody>
      </p:sp>
      <p:sp>
        <p:nvSpPr>
          <p:cNvPr id="6" name="text-139"/>
          <p:cNvSpPr txBox="1"/>
          <p:nvPr/>
        </p:nvSpPr>
        <p:spPr>
          <a:xfrm>
            <a:off x="5120640" y="1554480"/>
            <a:ext cx="6522415" cy="457200"/>
          </a:xfrm>
          <a:prstGeom prst="rect">
            <a:avLst/>
          </a:prstGeom>
          <a:noFill/>
          <a:ln/>
        </p:spPr>
        <p:txBody>
          <a:bodyPr wrap="square" lIns="0" tIns="0" rIns="0" bIns="0" rtlCol="0" anchor="ctr"/>
          <a:lstStyle/>
          <a:p>
            <a:pPr indent="0" marL="0">
              <a:buNone/>
            </a:pPr>
            <a:r>
              <a:rPr lang="en-US" sz="2100" b="1" dirty="0">
                <a:solidFill>
                  <a:schemeClr val="tx1"/>
                </a:solidFill>
              </a:rPr>
              <a:t>Breaks first at 10x (50k accounts, 2M events)</a:t>
            </a:r>
            <a:endParaRPr lang="en-US" sz="2100" dirty="0"/>
          </a:p>
        </p:txBody>
      </p:sp>
      <p:sp>
        <p:nvSpPr>
          <p:cNvPr id="7" name="dot-140"/>
          <p:cNvSpPr/>
          <p:nvPr/>
        </p:nvSpPr>
        <p:spPr>
          <a:xfrm>
            <a:off x="5120640" y="2226564"/>
            <a:ext cx="411480" cy="411480"/>
          </a:xfrm>
          <a:prstGeom prst="ellipse">
            <a:avLst/>
          </a:prstGeom>
          <a:solidFill>
            <a:schemeClr val="accent1"/>
          </a:solidFill>
          <a:ln w="12700">
            <a:solidFill>
              <a:schemeClr val="accent1"/>
            </a:solidFill>
            <a:prstDash val="solid"/>
          </a:ln>
        </p:spPr>
      </p:sp>
      <p:sp>
        <p:nvSpPr>
          <p:cNvPr id="8" name="text-141"/>
          <p:cNvSpPr txBox="1"/>
          <p:nvPr/>
        </p:nvSpPr>
        <p:spPr>
          <a:xfrm>
            <a:off x="5120640" y="2226564"/>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text-142"/>
          <p:cNvSpPr txBox="1"/>
          <p:nvPr/>
        </p:nvSpPr>
        <p:spPr>
          <a:xfrm>
            <a:off x="5715000" y="2148840"/>
            <a:ext cx="5928055" cy="566928"/>
          </a:xfrm>
          <a:prstGeom prst="rect">
            <a:avLst/>
          </a:prstGeom>
          <a:noFill/>
          <a:ln/>
        </p:spPr>
        <p:txBody>
          <a:bodyPr wrap="square" lIns="0" tIns="0" rIns="0" bIns="0" rtlCol="0" anchor="ctr"/>
          <a:lstStyle/>
          <a:p>
            <a:pPr indent="0" marL="0">
              <a:buNone/>
            </a:pPr>
            <a:r>
              <a:rPr lang="en-US" sz="1400" b="1" dirty="0">
                <a:solidFill>
                  <a:schemeClr val="tx1"/>
                </a:solidFill>
              </a:rPr>
              <a:t>Feature computation </a:t>
            </a:r>
            <a:pPr indent="0" marL="0">
              <a:buNone/>
            </a:pPr>
            <a:r>
              <a:rPr lang="en-US" sz="1400" dirty="0">
                <a:solidFill>
                  <a:schemeClr val="tx2"/>
                </a:solidFill>
              </a:rPr>
              <a:t>loads each tenant's full history into pandas. Move to incremental SQL aggregates</a:t>
            </a:r>
            <a:endParaRPr lang="en-US" sz="1400" dirty="0"/>
          </a:p>
        </p:txBody>
      </p:sp>
      <p:sp>
        <p:nvSpPr>
          <p:cNvPr id="10" name="dot-143"/>
          <p:cNvSpPr/>
          <p:nvPr/>
        </p:nvSpPr>
        <p:spPr>
          <a:xfrm>
            <a:off x="5120640" y="2857500"/>
            <a:ext cx="411480" cy="411480"/>
          </a:xfrm>
          <a:prstGeom prst="ellipse">
            <a:avLst/>
          </a:prstGeom>
          <a:solidFill>
            <a:schemeClr val="accent1"/>
          </a:solidFill>
          <a:ln w="12700">
            <a:solidFill>
              <a:schemeClr val="accent1"/>
            </a:solidFill>
            <a:prstDash val="solid"/>
          </a:ln>
        </p:spPr>
      </p:sp>
      <p:sp>
        <p:nvSpPr>
          <p:cNvPr id="11" name="text-144"/>
          <p:cNvSpPr txBox="1"/>
          <p:nvPr/>
        </p:nvSpPr>
        <p:spPr>
          <a:xfrm>
            <a:off x="5120640" y="285750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145"/>
          <p:cNvSpPr txBox="1"/>
          <p:nvPr/>
        </p:nvSpPr>
        <p:spPr>
          <a:xfrm>
            <a:off x="5715000" y="2779776"/>
            <a:ext cx="5928055" cy="566928"/>
          </a:xfrm>
          <a:prstGeom prst="rect">
            <a:avLst/>
          </a:prstGeom>
          <a:noFill/>
          <a:ln/>
        </p:spPr>
        <p:txBody>
          <a:bodyPr wrap="square" lIns="0" tIns="0" rIns="0" bIns="0" rtlCol="0" anchor="ctr"/>
          <a:lstStyle/>
          <a:p>
            <a:pPr indent="0" marL="0">
              <a:buNone/>
            </a:pPr>
            <a:r>
              <a:rPr lang="en-US" sz="1400" b="1" dirty="0">
                <a:solidFill>
                  <a:schemeClr val="tx1"/>
                </a:solidFill>
              </a:rPr>
              <a:t>Training </a:t>
            </a:r>
            <a:pPr indent="0" marL="0">
              <a:buNone/>
            </a:pPr>
            <a:r>
              <a:rPr lang="en-US" sz="1400" dirty="0">
                <a:solidFill>
                  <a:schemeClr val="tx2"/>
                </a:solidFill>
              </a:rPr>
              <a:t>rebuilds every snapshot. Cache them in a feature store</a:t>
            </a:r>
            <a:endParaRPr lang="en-US" sz="1400" dirty="0"/>
          </a:p>
        </p:txBody>
      </p:sp>
      <p:sp>
        <p:nvSpPr>
          <p:cNvPr id="13" name="dot-146"/>
          <p:cNvSpPr/>
          <p:nvPr/>
        </p:nvSpPr>
        <p:spPr>
          <a:xfrm>
            <a:off x="5120640" y="3488436"/>
            <a:ext cx="411480" cy="411480"/>
          </a:xfrm>
          <a:prstGeom prst="ellipse">
            <a:avLst/>
          </a:prstGeom>
          <a:solidFill>
            <a:schemeClr val="accent1"/>
          </a:solidFill>
          <a:ln w="12700">
            <a:solidFill>
              <a:schemeClr val="accent1"/>
            </a:solidFill>
            <a:prstDash val="solid"/>
          </a:ln>
        </p:spPr>
      </p:sp>
      <p:sp>
        <p:nvSpPr>
          <p:cNvPr id="14" name="text-147"/>
          <p:cNvSpPr txBox="1"/>
          <p:nvPr/>
        </p:nvSpPr>
        <p:spPr>
          <a:xfrm>
            <a:off x="5120640" y="3488436"/>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148"/>
          <p:cNvSpPr txBox="1"/>
          <p:nvPr/>
        </p:nvSpPr>
        <p:spPr>
          <a:xfrm>
            <a:off x="5715000" y="3410712"/>
            <a:ext cx="5928055" cy="566928"/>
          </a:xfrm>
          <a:prstGeom prst="rect">
            <a:avLst/>
          </a:prstGeom>
          <a:noFill/>
          <a:ln/>
        </p:spPr>
        <p:txBody>
          <a:bodyPr wrap="square" lIns="0" tIns="0" rIns="0" bIns="0" rtlCol="0" anchor="ctr"/>
          <a:lstStyle/>
          <a:p>
            <a:pPr indent="0" marL="0">
              <a:buNone/>
            </a:pPr>
            <a:r>
              <a:rPr lang="en-US" sz="1400" b="1" dirty="0">
                <a:solidFill>
                  <a:schemeClr val="tx1"/>
                </a:solidFill>
              </a:rPr>
              <a:t>LLM drafts </a:t>
            </a:r>
            <a:pPr indent="0" marL="0">
              <a:buNone/>
            </a:pPr>
            <a:r>
              <a:rPr lang="en-US" sz="1400" dirty="0">
                <a:solidFill>
                  <a:schemeClr val="tx2"/>
                </a:solidFill>
              </a:rPr>
              <a:t>run inside the nightly transaction. Give them their own queue</a:t>
            </a:r>
            <a:endParaRPr lang="en-US" sz="1400" dirty="0"/>
          </a:p>
        </p:txBody>
      </p:sp>
      <p:sp>
        <p:nvSpPr>
          <p:cNvPr id="16" name="dot-149"/>
          <p:cNvSpPr/>
          <p:nvPr/>
        </p:nvSpPr>
        <p:spPr>
          <a:xfrm>
            <a:off x="5120640" y="4119372"/>
            <a:ext cx="411480" cy="411480"/>
          </a:xfrm>
          <a:prstGeom prst="ellipse">
            <a:avLst/>
          </a:prstGeom>
          <a:solidFill>
            <a:schemeClr val="accent1"/>
          </a:solidFill>
          <a:ln w="12700">
            <a:solidFill>
              <a:schemeClr val="accent1"/>
            </a:solidFill>
            <a:prstDash val="solid"/>
          </a:ln>
        </p:spPr>
      </p:sp>
      <p:sp>
        <p:nvSpPr>
          <p:cNvPr id="17" name="text-150"/>
          <p:cNvSpPr txBox="1"/>
          <p:nvPr/>
        </p:nvSpPr>
        <p:spPr>
          <a:xfrm>
            <a:off x="5120640" y="4119372"/>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8" name="text-151"/>
          <p:cNvSpPr txBox="1"/>
          <p:nvPr/>
        </p:nvSpPr>
        <p:spPr>
          <a:xfrm>
            <a:off x="5715000" y="4041648"/>
            <a:ext cx="5928055" cy="566928"/>
          </a:xfrm>
          <a:prstGeom prst="rect">
            <a:avLst/>
          </a:prstGeom>
          <a:noFill/>
          <a:ln/>
        </p:spPr>
        <p:txBody>
          <a:bodyPr wrap="square" lIns="0" tIns="0" rIns="0" bIns="0" rtlCol="0" anchor="ctr"/>
          <a:lstStyle/>
          <a:p>
            <a:pPr indent="0" marL="0">
              <a:buNone/>
            </a:pPr>
            <a:r>
              <a:rPr lang="en-US" sz="1400" b="1" dirty="0">
                <a:solidFill>
                  <a:schemeClr val="tx1"/>
                </a:solidFill>
              </a:rPr>
              <a:t>Cron + advisory lock </a:t>
            </a:r>
            <a:pPr indent="0" marL="0">
              <a:buNone/>
            </a:pPr>
            <a:r>
              <a:rPr lang="en-US" sz="1400" dirty="0">
                <a:solidFill>
                  <a:schemeClr val="tx2"/>
                </a:solidFill>
              </a:rPr>
              <a:t>should become an orchestrator (Dagster, Temporal)</a:t>
            </a:r>
            <a:endParaRPr lang="en-US" sz="1400" dirty="0"/>
          </a:p>
        </p:txBody>
      </p:sp>
      <p:sp>
        <p:nvSpPr>
          <p:cNvPr id="19" name="dot-152"/>
          <p:cNvSpPr/>
          <p:nvPr/>
        </p:nvSpPr>
        <p:spPr>
          <a:xfrm>
            <a:off x="5120640" y="4750308"/>
            <a:ext cx="411480" cy="411480"/>
          </a:xfrm>
          <a:prstGeom prst="ellipse">
            <a:avLst/>
          </a:prstGeom>
          <a:solidFill>
            <a:schemeClr val="accent1"/>
          </a:solidFill>
          <a:ln w="12700">
            <a:solidFill>
              <a:schemeClr val="accent1"/>
            </a:solidFill>
            <a:prstDash val="solid"/>
          </a:ln>
        </p:spPr>
      </p:sp>
      <p:sp>
        <p:nvSpPr>
          <p:cNvPr id="20" name="text-153"/>
          <p:cNvSpPr txBox="1"/>
          <p:nvPr/>
        </p:nvSpPr>
        <p:spPr>
          <a:xfrm>
            <a:off x="5120640" y="4750308"/>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1" name="text-154"/>
          <p:cNvSpPr txBox="1"/>
          <p:nvPr/>
        </p:nvSpPr>
        <p:spPr>
          <a:xfrm>
            <a:off x="5715000" y="4672584"/>
            <a:ext cx="5928055" cy="566928"/>
          </a:xfrm>
          <a:prstGeom prst="rect">
            <a:avLst/>
          </a:prstGeom>
          <a:noFill/>
          <a:ln/>
        </p:spPr>
        <p:txBody>
          <a:bodyPr wrap="square" lIns="0" tIns="0" rIns="0" bIns="0" rtlCol="0" anchor="ctr"/>
          <a:lstStyle/>
          <a:p>
            <a:pPr indent="0" marL="0">
              <a:buNone/>
            </a:pPr>
            <a:r>
              <a:rPr lang="en-US" sz="1400" b="1" dirty="0">
                <a:solidFill>
                  <a:schemeClr val="tx1"/>
                </a:solidFill>
              </a:rPr>
              <a:t>Sign-in rate limiter </a:t>
            </a:r>
            <a:pPr indent="0" marL="0">
              <a:buNone/>
            </a:pPr>
            <a:r>
              <a:rPr lang="en-US" sz="1400" dirty="0">
                <a:solidFill>
                  <a:schemeClr val="tx2"/>
                </a:solidFill>
              </a:rPr>
              <a:t>is in memory, single instance only. Move to Redis</a:t>
            </a:r>
            <a:endParaRPr lang="en-US" sz="1400" dirty="0"/>
          </a:p>
        </p:txBody>
      </p:sp>
      <p:sp>
        <p:nvSpPr>
          <p:cNvPr id="22" name="dot-155"/>
          <p:cNvSpPr/>
          <p:nvPr/>
        </p:nvSpPr>
        <p:spPr>
          <a:xfrm>
            <a:off x="5120640" y="5381244"/>
            <a:ext cx="411480" cy="411480"/>
          </a:xfrm>
          <a:prstGeom prst="ellipse">
            <a:avLst/>
          </a:prstGeom>
          <a:solidFill>
            <a:schemeClr val="accent1"/>
          </a:solidFill>
          <a:ln w="12700">
            <a:solidFill>
              <a:schemeClr val="accent1"/>
            </a:solidFill>
            <a:prstDash val="solid"/>
          </a:ln>
        </p:spPr>
      </p:sp>
      <p:sp>
        <p:nvSpPr>
          <p:cNvPr id="23" name="text-156"/>
          <p:cNvSpPr txBox="1"/>
          <p:nvPr/>
        </p:nvSpPr>
        <p:spPr>
          <a:xfrm>
            <a:off x="5120640" y="5381244"/>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4" name="text-157"/>
          <p:cNvSpPr txBox="1"/>
          <p:nvPr/>
        </p:nvSpPr>
        <p:spPr>
          <a:xfrm>
            <a:off x="5715000" y="5303520"/>
            <a:ext cx="5928055" cy="566928"/>
          </a:xfrm>
          <a:prstGeom prst="rect">
            <a:avLst/>
          </a:prstGeom>
          <a:noFill/>
          <a:ln/>
        </p:spPr>
        <p:txBody>
          <a:bodyPr wrap="square" lIns="0" tIns="0" rIns="0" bIns="0" rtlCol="0" anchor="ctr"/>
          <a:lstStyle/>
          <a:p>
            <a:pPr indent="0" marL="0">
              <a:buNone/>
            </a:pPr>
            <a:r>
              <a:rPr lang="en-US" sz="1400" b="1" dirty="0">
                <a:solidFill>
                  <a:schemeClr val="tx1"/>
                </a:solidFill>
              </a:rPr>
              <a:t>Model files and tenants </a:t>
            </a:r>
            <a:pPr indent="0" marL="0">
              <a:buNone/>
            </a:pPr>
            <a:r>
              <a:rPr lang="en-US" sz="1400" dirty="0">
                <a:solidFill>
                  <a:schemeClr val="tx2"/>
                </a:solidFill>
              </a:rPr>
              <a:t>share one Postgres. Object storage; separate databases for regulated tenants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2"/>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Renewal Risk">
  <a:themeElements>
    <a:clrScheme name="Renewal Risk">
      <a:dk1>
        <a:srgbClr val="18212B"/>
      </a:dk1>
      <a:lt1>
        <a:srgbClr val="FFFFFF"/>
      </a:lt1>
      <a:dk2>
        <a:srgbClr val="4A5562"/>
      </a:dk2>
      <a:lt2>
        <a:srgbClr val="EEF1F4"/>
      </a:lt2>
      <a:accent1>
        <a:srgbClr val="C2410C"/>
      </a:accent1>
      <a:accent2>
        <a:srgbClr val="2F7D4F"/>
      </a:accent2>
      <a:accent3>
        <a:srgbClr val="B42318"/>
      </a:accent3>
      <a:accent4>
        <a:srgbClr val="A16207"/>
      </a:accent4>
      <a:accent5>
        <a:srgbClr val="3B6E8F"/>
      </a:accent5>
      <a:accent6>
        <a:srgbClr val="8A94A0"/>
      </a:accent6>
      <a:hlink>
        <a:srgbClr val="C2410C"/>
      </a:hlink>
      <a:folHlink>
        <a:srgbClr val="8A94A0"/>
      </a:folHlink>
    </a:clrScheme>
    <a:fontScheme name="Renewal Ris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Renewal Risk Worklist</dc:title>
  <dc:subject>PptxGenJS Presentation</dc:subject>
  <dc:creator>Saurabh Kashyap</dc:creator>
  <cp:lastModifiedBy>Saurabh Kashyap</cp:lastModifiedBy>
  <cp:revision>1</cp:revision>
  <dcterms:created xsi:type="dcterms:W3CDTF">2026-10-29T07:13:37Z</dcterms:created>
  <dcterms:modified xsi:type="dcterms:W3CDTF">2026-10-29T07:13:37Z</dcterms:modified>
</cp:coreProperties>
</file>